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8.xml" ContentType="application/vnd.openxmlformats-officedocument.theme+xml"/>
  <Override PartName="/ppt/theme/theme16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_rels/presentation.xml.rels" ContentType="application/vnd.openxmlformats-package.relationships+xml"/>
  <Override PartName="/ppt/media/image13.jpeg" ContentType="image/jpeg"/>
  <Override PartName="/ppt/media/image10.png" ContentType="image/png"/>
  <Override PartName="/ppt/media/image6.jpeg" ContentType="image/jpeg"/>
  <Override PartName="/ppt/media/image1.png" ContentType="image/png"/>
  <Override PartName="/ppt/media/image12.png" ContentType="image/png"/>
  <Override PartName="/ppt/media/image8.png" ContentType="image/png"/>
  <Override PartName="/ppt/media/image17.png" ContentType="image/png"/>
  <Override PartName="/ppt/media/image11.png" ContentType="image/png"/>
  <Override PartName="/ppt/media/image2.png" ContentType="image/png"/>
  <Override PartName="/ppt/media/image7.png" ContentType="image/png"/>
  <Override PartName="/ppt/media/image16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5.jpeg" ContentType="image/jpeg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4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5.png" ContentType="image/png"/>
  <Override PartName="/ppt/media/image3.jpeg" ContentType="image/jpeg"/>
  <Override PartName="/ppt/media/image23.png" ContentType="image/png"/>
  <Override PartName="/ppt/media/image14.jpeg" ContentType="image/jpeg"/>
  <Override PartName="/ppt/media/image4.jpeg" ContentType="image/jpeg"/>
  <Override PartName="/ppt/media/image25.png" ContentType="image/png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6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</p:sldMasterIdLst>
  <p:sldIdLst>
    <p:sldId id="256" r:id="rId30"/>
    <p:sldId id="257" r:id="rId31"/>
    <p:sldId id="258" r:id="rId32"/>
    <p:sldId id="259" r:id="rId33"/>
    <p:sldId id="260" r:id="rId34"/>
    <p:sldId id="261" r:id="rId35"/>
    <p:sldId id="262" r:id="rId36"/>
    <p:sldId id="263" r:id="rId37"/>
    <p:sldId id="264" r:id="rId38"/>
    <p:sldId id="265" r:id="rId39"/>
    <p:sldId id="266" r:id="rId40"/>
    <p:sldId id="267" r:id="rId41"/>
    <p:sldId id="268" r:id="rId42"/>
    <p:sldId id="269" r:id="rId43"/>
    <p:sldId id="270" r:id="rId44"/>
    <p:sldId id="271" r:id="rId45"/>
    <p:sldId id="272" r:id="rId46"/>
    <p:sldId id="273" r:id="rId47"/>
    <p:sldId id="274" r:id="rId48"/>
    <p:sldId id="275" r:id="rId49"/>
    <p:sldId id="276" r:id="rId50"/>
    <p:sldId id="277" r:id="rId51"/>
    <p:sldId id="278" r:id="rId52"/>
    <p:sldId id="279" r:id="rId53"/>
    <p:sldId id="280" r:id="rId54"/>
    <p:sldId id="281" r:id="rId55"/>
    <p:sldId id="282" r:id="rId56"/>
    <p:sldId id="283" r:id="rId57"/>
    <p:sldId id="284" r:id="rId58"/>
    <p:sldId id="285" r:id="rId59"/>
    <p:sldId id="286" r:id="rId60"/>
    <p:sldId id="287" r:id="rId61"/>
    <p:sldId id="288" r:id="rId62"/>
    <p:sldId id="289" r:id="rId63"/>
    <p:sldId id="290" r:id="rId64"/>
    <p:sldId id="291" r:id="rId65"/>
    <p:sldId id="292" r:id="rId6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Relationship Id="rId50" Type="http://schemas.openxmlformats.org/officeDocument/2006/relationships/slide" Target="slides/slide21.xml"/><Relationship Id="rId51" Type="http://schemas.openxmlformats.org/officeDocument/2006/relationships/slide" Target="slides/slide22.xml"/><Relationship Id="rId52" Type="http://schemas.openxmlformats.org/officeDocument/2006/relationships/slide" Target="slides/slide23.xml"/><Relationship Id="rId53" Type="http://schemas.openxmlformats.org/officeDocument/2006/relationships/slide" Target="slides/slide24.xml"/><Relationship Id="rId54" Type="http://schemas.openxmlformats.org/officeDocument/2006/relationships/slide" Target="slides/slide25.xml"/><Relationship Id="rId55" Type="http://schemas.openxmlformats.org/officeDocument/2006/relationships/slide" Target="slides/slide26.xml"/><Relationship Id="rId56" Type="http://schemas.openxmlformats.org/officeDocument/2006/relationships/slide" Target="slides/slide27.xml"/><Relationship Id="rId57" Type="http://schemas.openxmlformats.org/officeDocument/2006/relationships/slide" Target="slides/slide28.xml"/><Relationship Id="rId58" Type="http://schemas.openxmlformats.org/officeDocument/2006/relationships/slide" Target="slides/slide29.xml"/><Relationship Id="rId59" Type="http://schemas.openxmlformats.org/officeDocument/2006/relationships/slide" Target="slides/slide30.xml"/><Relationship Id="rId60" Type="http://schemas.openxmlformats.org/officeDocument/2006/relationships/slide" Target="slides/slide31.xml"/><Relationship Id="rId61" Type="http://schemas.openxmlformats.org/officeDocument/2006/relationships/slide" Target="slides/slide32.xml"/><Relationship Id="rId62" Type="http://schemas.openxmlformats.org/officeDocument/2006/relationships/slide" Target="slides/slide33.xml"/><Relationship Id="rId63" Type="http://schemas.openxmlformats.org/officeDocument/2006/relationships/slide" Target="slides/slide34.xml"/><Relationship Id="rId64" Type="http://schemas.openxmlformats.org/officeDocument/2006/relationships/slide" Target="slides/slide35.xml"/><Relationship Id="rId65" Type="http://schemas.openxmlformats.org/officeDocument/2006/relationships/slide" Target="slides/slide36.xml"/><Relationship Id="rId66" Type="http://schemas.openxmlformats.org/officeDocument/2006/relationships/slide" Target="slides/slide37.xml"/><Relationship Id="rId6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</a:t>
            </a: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to edit </a:t>
            </a: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the </a:t>
            </a: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title </a:t>
            </a: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text </a:t>
            </a: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3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3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3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3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7880" cy="238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7040" cy="397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3"/>
    <p:sldLayoutId id="2147483704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pn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slideLayout" Target="../slideLayouts/slideLayout2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2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2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2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jpeg"/><Relationship Id="rId3" Type="http://schemas.openxmlformats.org/officeDocument/2006/relationships/image" Target="../media/image14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slideLayout" Target="../slideLayouts/slideLayout2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slideLayout" Target="../slideLayouts/slideLayout2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slideLayout" Target="../slideLayouts/slideLayout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279;p66" descr="Ein Bild, das Text, Screenshot, Diagramm, Reihe enthält.&#10;&#10;KI-generierte Inhalte können fehlerhaft sein."/>
          <p:cNvPicPr/>
          <p:nvPr/>
        </p:nvPicPr>
        <p:blipFill>
          <a:blip r:embed="rId1"/>
          <a:stretch/>
        </p:blipFill>
        <p:spPr>
          <a:xfrm>
            <a:off x="1440" y="-16560"/>
            <a:ext cx="12186000" cy="6851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Google Shape;280;p66"/>
          <p:cNvSpPr/>
          <p:nvPr/>
        </p:nvSpPr>
        <p:spPr>
          <a:xfrm>
            <a:off x="812880" y="3661560"/>
            <a:ext cx="8802000" cy="49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Google Shape;281;p66"/>
          <p:cNvSpPr/>
          <p:nvPr/>
        </p:nvSpPr>
        <p:spPr>
          <a:xfrm>
            <a:off x="2632680" y="3943080"/>
            <a:ext cx="4714560" cy="6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Argentinian Navy Research Office &amp; UNIDEF (CONICET)</a:t>
            </a:r>
            <a:endParaRPr b="0" lang="es-E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Google Shape;282;p66"/>
          <p:cNvSpPr/>
          <p:nvPr/>
        </p:nvSpPr>
        <p:spPr>
          <a:xfrm>
            <a:off x="2632680" y="4872600"/>
            <a:ext cx="698220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Presentation Date: 11 September 2025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Google Shape;283;p66"/>
          <p:cNvSpPr/>
          <p:nvPr/>
        </p:nvSpPr>
        <p:spPr>
          <a:xfrm>
            <a:off x="812880" y="2523960"/>
            <a:ext cx="8802000" cy="95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A Portable Experimental Buoy for Coastal Acoustic Monitoring as a Potential Complement to the IMS Hydroacoustic Network: </a:t>
            </a:r>
            <a:br>
              <a:rPr sz="2400"/>
            </a:b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Applications on the Argentinian Continental Shelf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12" name="Google Shape;285;p66"/>
          <p:cNvGrpSpPr/>
          <p:nvPr/>
        </p:nvGrpSpPr>
        <p:grpSpPr>
          <a:xfrm>
            <a:off x="7534440" y="4017960"/>
            <a:ext cx="2143800" cy="512280"/>
            <a:chOff x="7534440" y="4017960"/>
            <a:chExt cx="2143800" cy="512280"/>
          </a:xfrm>
        </p:grpSpPr>
        <p:pic>
          <p:nvPicPr>
            <p:cNvPr id="113" name="Google Shape;286;p66" descr=""/>
            <p:cNvPicPr/>
            <p:nvPr/>
          </p:nvPicPr>
          <p:blipFill>
            <a:blip r:embed="rId2"/>
            <a:stretch/>
          </p:blipFill>
          <p:spPr>
            <a:xfrm>
              <a:off x="8033760" y="4018320"/>
              <a:ext cx="1644480" cy="509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4" name="Google Shape;287;p66" descr=""/>
            <p:cNvPicPr/>
            <p:nvPr/>
          </p:nvPicPr>
          <p:blipFill>
            <a:blip r:embed="rId3"/>
            <a:stretch/>
          </p:blipFill>
          <p:spPr>
            <a:xfrm>
              <a:off x="7534440" y="4017960"/>
              <a:ext cx="468360" cy="51228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115" name="Google Shape;297;p 1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292;p67"/>
          <p:cNvSpPr/>
          <p:nvPr/>
        </p:nvSpPr>
        <p:spPr>
          <a:xfrm>
            <a:off x="159840" y="1052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Background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Google Shape;293;p67"/>
          <p:cNvSpPr/>
          <p:nvPr/>
        </p:nvSpPr>
        <p:spPr>
          <a:xfrm>
            <a:off x="144000" y="1808640"/>
            <a:ext cx="6126120" cy="30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1199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Airgun array used in seismic surveys generate sound pulses 5–60 Hz that can propagate over ocean-basin scales.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9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Under favourable conditions, signals reach CTBT IMS hydroacoustic (HA) stations with high SNR.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9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On the Argentinian Continental Shelf, airgun signals detected at H10N can be used to validate long-range propagation models </a:t>
            </a:r>
            <a:r>
              <a:rPr b="0" lang="en-GB" sz="2000" strike="noStrike" u="none" baseline="33000">
                <a:solidFill>
                  <a:srgbClr val="000000"/>
                </a:solidFill>
                <a:uFillTx/>
                <a:latin typeface="Arial"/>
                <a:ea typeface="Arial"/>
              </a:rPr>
              <a:t>(1)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9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Limitations: highly directional sources and shallow-water propagation reduce detectability.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99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Challenge: synchronize ground-truth airgun shots with H10N recordings, actual Source Levels.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Google Shape;294;p67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19" name="Google Shape;295;p67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Google Shape;296;p67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Google Shape;297;p67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TextBox 3"/>
          <p:cNvSpPr/>
          <p:nvPr/>
        </p:nvSpPr>
        <p:spPr>
          <a:xfrm>
            <a:off x="72000" y="6300000"/>
            <a:ext cx="12190680" cy="5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b="0" lang="en-GB" sz="1250" strike="noStrike" u="none" baseline="33000">
                <a:solidFill>
                  <a:schemeClr val="dk1"/>
                </a:solidFill>
                <a:uFillTx/>
                <a:latin typeface="Arial"/>
                <a:ea typeface="Noto Sans CJK SC"/>
              </a:rPr>
              <a:t>(1)  </a:t>
            </a:r>
            <a:r>
              <a:rPr b="0" lang="en-GB" sz="1250" strike="noStrike" u="none">
                <a:solidFill>
                  <a:schemeClr val="dk1"/>
                </a:solidFill>
                <a:uFillTx/>
                <a:latin typeface="Arial"/>
                <a:ea typeface="Noto Sans CJK SC"/>
              </a:rPr>
              <a:t>SnT2021 P1.3-494 An inverse problem approach for acoustic Transmission Loss estimation from the analysis of signals generated by seismic air-gun arrays.</a:t>
            </a:r>
            <a:br>
              <a:rPr sz="1250"/>
            </a:br>
            <a:r>
              <a:rPr b="0" lang="en-GB" sz="1250" strike="noStrike" u="none">
                <a:solidFill>
                  <a:schemeClr val="lt1">
                    <a:lumMod val="65000"/>
                  </a:schemeClr>
                </a:solidFill>
                <a:uFillTx/>
                <a:latin typeface="Arial"/>
                <a:ea typeface="Noto Sans CJK SC"/>
              </a:rPr>
              <a:t>    </a:t>
            </a:r>
            <a:r>
              <a:rPr b="0" lang="en-GB" sz="1250" strike="noStrike" u="none">
                <a:solidFill>
                  <a:schemeClr val="dk1"/>
                </a:solidFill>
                <a:uFillTx/>
                <a:latin typeface="Arial"/>
                <a:ea typeface="Noto Sans CJK SC"/>
              </a:rPr>
              <a:t>SnT2023 O1.3-536 Analysis of bathymetric effects on long-range acoustic propagation using 2D and 3D Transmission Loss models in signals generated by airgun arrays.</a:t>
            </a:r>
            <a:endParaRPr b="0" lang="es-E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3" name="1 Imagen" descr=""/>
          <p:cNvPicPr/>
          <p:nvPr/>
        </p:nvPicPr>
        <p:blipFill>
          <a:blip r:embed="rId1"/>
          <a:stretch/>
        </p:blipFill>
        <p:spPr>
          <a:xfrm>
            <a:off x="6524640" y="1788120"/>
            <a:ext cx="5542560" cy="415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Google Shape;293;p67"/>
          <p:cNvSpPr/>
          <p:nvPr/>
        </p:nvSpPr>
        <p:spPr>
          <a:xfrm>
            <a:off x="325800" y="5086080"/>
            <a:ext cx="10877040" cy="222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25" name="108 Rectángulo"/>
          <p:cNvSpPr/>
          <p:nvPr/>
        </p:nvSpPr>
        <p:spPr>
          <a:xfrm>
            <a:off x="6023520" y="3319200"/>
            <a:ext cx="1771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s-ES" sz="1000" strike="noStrike" u="none">
              <a:solidFill>
                <a:srgbClr val="000000"/>
              </a:solidFill>
              <a:uFillTx/>
              <a:latin typeface="Arial"/>
              <a:ea typeface="DejaVu Sans"/>
            </a:endParaRPr>
          </a:p>
        </p:txBody>
      </p:sp>
      <p:grpSp>
        <p:nvGrpSpPr>
          <p:cNvPr id="126" name="Google Shape;285;p 1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127" name="Google Shape;286;p 1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8" name="Google Shape;287;p 1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306;p68"/>
          <p:cNvSpPr/>
          <p:nvPr/>
        </p:nvSpPr>
        <p:spPr>
          <a:xfrm>
            <a:off x="159840" y="100728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Motivation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Google Shape;308;p68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31" name="Google Shape;309;p68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2" name="Google Shape;310;p68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Google Shape;311;p68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4" name="Google Shape;312;p68" descr=""/>
          <p:cNvPicPr/>
          <p:nvPr/>
        </p:nvPicPr>
        <p:blipFill>
          <a:blip r:embed="rId1"/>
          <a:stretch/>
        </p:blipFill>
        <p:spPr>
          <a:xfrm>
            <a:off x="299520" y="1783080"/>
            <a:ext cx="4775040" cy="342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Google Shape;307;p 1"/>
          <p:cNvSpPr/>
          <p:nvPr/>
        </p:nvSpPr>
        <p:spPr>
          <a:xfrm>
            <a:off x="5580000" y="1656000"/>
            <a:ext cx="6378840" cy="406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Seismic surveys are conducted in offshore oil &amp; gas exploration blocks.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Large dataset of high-amplitude impulsive signals  </a:t>
            </a:r>
            <a:br>
              <a:rPr sz="2000"/>
            </a:br>
            <a:r>
              <a:rPr b="0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►</a:t>
            </a:r>
            <a:r>
              <a:rPr b="0" lang="en-GB" sz="20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basin-scale propagation analysis.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Airgun array source levels simulated with an open-source airgun modelling software</a:t>
            </a:r>
            <a:r>
              <a:rPr b="0" lang="en-GB" sz="2000" strike="noStrike" u="none" baseline="33000">
                <a:solidFill>
                  <a:srgbClr val="000000"/>
                </a:solidFill>
                <a:uFillTx/>
                <a:latin typeface="Arial"/>
                <a:ea typeface="Arial"/>
              </a:rPr>
              <a:t>(2)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: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Energy source level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~ 190 - 210 dB re 1µPa</a:t>
            </a:r>
            <a:r>
              <a:rPr b="0" lang="en-GB" sz="2000" strike="noStrike" u="none" baseline="33000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</a:t>
            </a:r>
            <a:r>
              <a:rPr b="0" lang="en-GB" sz="2000" strike="noStrike" u="none" baseline="33000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 within 5 Hz – 70 Hz band (HA10 direction).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Need for local measurement of airgun shots signals or other underwater noise sources on the Continental Shelf </a:t>
            </a:r>
            <a:r>
              <a:rPr b="0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►</a:t>
            </a:r>
            <a:r>
              <a:rPr b="0" lang="en-GB" sz="20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selection of semi-permanent sites for buoy-deployed hydrophones</a:t>
            </a: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119 Rectángulo"/>
          <p:cNvSpPr/>
          <p:nvPr/>
        </p:nvSpPr>
        <p:spPr>
          <a:xfrm>
            <a:off x="3804120" y="6179400"/>
            <a:ext cx="800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es-ES" sz="12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(2) Sertlek, H. O., and Ainslie, M. A. (2015). “AGORA: Airgun Source Signature Model: Its application for the Dutch Seismic Survey,” in Proceedings of Underwater Acoustics Conference and Exhibition, Crete, Greece, pp. 439–446, 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7" name="120 Imagen" descr=""/>
          <p:cNvPicPr/>
          <p:nvPr/>
        </p:nvPicPr>
        <p:blipFill>
          <a:blip r:embed="rId2"/>
          <a:stretch/>
        </p:blipFill>
        <p:spPr>
          <a:xfrm>
            <a:off x="108000" y="5285880"/>
            <a:ext cx="3435120" cy="15094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8" name="Google Shape;285;p 36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139" name="Google Shape;286;p 36" descr=""/>
            <p:cNvPicPr/>
            <p:nvPr/>
          </p:nvPicPr>
          <p:blipFill>
            <a:blip r:embed="rId3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0" name="Google Shape;287;p 36" descr=""/>
            <p:cNvPicPr/>
            <p:nvPr/>
          </p:nvPicPr>
          <p:blipFill>
            <a:blip r:embed="rId4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321;p69"/>
          <p:cNvSpPr/>
          <p:nvPr/>
        </p:nvSpPr>
        <p:spPr>
          <a:xfrm>
            <a:off x="159840" y="1016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Current acoustic coverage in Argentinian Continental Shelf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Google Shape;322;p69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43" name="Google Shape;323;p69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Google Shape;324;p69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5" name="Google Shape;325;p69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Google Shape;329;p4"/>
          <p:cNvSpPr/>
          <p:nvPr/>
        </p:nvSpPr>
        <p:spPr>
          <a:xfrm>
            <a:off x="180000" y="1548000"/>
            <a:ext cx="7016400" cy="48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Goal</a:t>
            </a: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: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identify candidate shallow-water sites </a:t>
            </a:r>
            <a:br>
              <a:rPr sz="2000"/>
            </a:b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(depth z &lt; 200 m) for improved local monitoring.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Acoustic coverage areas of the HA10 station: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preliminary analysis using 2D Parabolic Equation (PE) model RAM (Range-dependent Acoustic Model, Julia implementation).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Acoustic scenario: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Oceanographic databases: T, S profiles from Copernicus; bathymetry from GEBCO.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Frequencies band analyzed:  2 Hz &lt; f &lt; 100 Hz.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Transmission Loss (TL) computed along Nx2D radial transects from H10N.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Source depth = 8 m (typical for airgun array).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Maximum coverage analysis</a:t>
            </a: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: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High impulsive source levels</a:t>
            </a:r>
            <a:r>
              <a:rPr b="0" lang="en-GB" sz="2000" strike="noStrike" u="none" baseline="33000">
                <a:solidFill>
                  <a:srgbClr val="000000"/>
                </a:solidFill>
                <a:uFillTx/>
                <a:latin typeface="Arial"/>
                <a:ea typeface="Arial"/>
              </a:rPr>
              <a:t>(3)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; TL &lt; 200 dB; NL ~ 80 dB re 1µPa</a:t>
            </a:r>
            <a:r>
              <a:rPr b="0" lang="en-GB" sz="2000" strike="noStrike" u="none" baseline="33000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7" name="127 Imagen" descr=""/>
          <p:cNvPicPr/>
          <p:nvPr/>
        </p:nvPicPr>
        <p:blipFill>
          <a:blip r:embed="rId1"/>
          <a:stretch/>
        </p:blipFill>
        <p:spPr>
          <a:xfrm>
            <a:off x="7464240" y="1659960"/>
            <a:ext cx="4574880" cy="507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TextBox 8"/>
          <p:cNvSpPr/>
          <p:nvPr/>
        </p:nvSpPr>
        <p:spPr>
          <a:xfrm>
            <a:off x="123840" y="6472800"/>
            <a:ext cx="74365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GB" sz="1200" strike="noStrike" u="none" baseline="33000">
                <a:solidFill>
                  <a:schemeClr val="dk1"/>
                </a:solidFill>
                <a:uFillTx/>
                <a:latin typeface="Arial"/>
                <a:ea typeface="Noto Sans CJK SC"/>
              </a:rPr>
              <a:t>(3)  </a:t>
            </a:r>
            <a:r>
              <a:rPr b="0" lang="en-GB" sz="1200" strike="noStrike" u="none">
                <a:solidFill>
                  <a:schemeClr val="dk1"/>
                </a:solidFill>
                <a:uFillTx/>
                <a:latin typeface="Arial"/>
                <a:ea typeface="Noto Sans CJK SC"/>
              </a:rPr>
              <a:t>Dekeling, R.P.A., et al. Monitoring Guidance for Underwater Noise in European Seas, Part III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49" name="Google Shape;285;p 2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150" name="Google Shape;286;p 2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1" name="Google Shape;287;p 2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321;p69"/>
          <p:cNvSpPr/>
          <p:nvPr/>
        </p:nvSpPr>
        <p:spPr>
          <a:xfrm>
            <a:off x="159840" y="1052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Offshore Argentina coverage of Ascension station H10N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3" name="Google Shape;322;p69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54" name="Google Shape;323;p69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Google Shape;324;p69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6" name="Google Shape;325;p69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Google Shape;343;p5"/>
          <p:cNvSpPr/>
          <p:nvPr/>
        </p:nvSpPr>
        <p:spPr>
          <a:xfrm>
            <a:off x="5220000" y="1800000"/>
            <a:ext cx="661896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1284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 frequencies (f &lt; 10 Hz): coastal shadow zones, TL &gt; 200 dB.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Higher frequencies (10 Hz &lt; f &lt; 80 Hz): partial coverage, but limited in shallow waters.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Argentinian continental slope acts as an acoustic filter.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Coastal coverage gaps: long-range IMS hydroacoustic stations miss nearshore regions.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Local minima of TL in the continental slope </a:t>
            </a:r>
            <a:br>
              <a:rPr sz="2000"/>
            </a:b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(ARA San Juan wreckage, signal of 2017 implosion event was detected in two IMS-HA stations</a:t>
            </a:r>
            <a:r>
              <a:rPr b="0" lang="en-GB" sz="20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4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Offshore candidate sites identified: 1-MDQ, 2-CRD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8" name="TextBox 6"/>
          <p:cNvSpPr/>
          <p:nvPr/>
        </p:nvSpPr>
        <p:spPr>
          <a:xfrm>
            <a:off x="5220000" y="6255360"/>
            <a:ext cx="696924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GB" sz="1000" strike="noStrike" u="none" baseline="30000">
                <a:solidFill>
                  <a:schemeClr val="dk1"/>
                </a:solidFill>
                <a:uFillTx/>
                <a:latin typeface="Arial"/>
                <a:ea typeface="DejaVu Sans"/>
              </a:rPr>
              <a:t>(4)  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Prario, I., Cinquini, M., Marques Rojo, R.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et al.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Characterization of the Acoustic Event Associated with the Loss of the ARA San Juan Submarine Based on Long-Range Measurements by CTBTO’s Hydrophone Stations.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Pure Appl. Geophys.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</a:t>
            </a:r>
            <a:r>
              <a:rPr b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180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, 1317–1342 (2023). https://doi.org/10.1007/s00024-022-03090-0</a:t>
            </a:r>
            <a:r>
              <a:rPr b="0" lang="en-GB" sz="1050" strike="noStrike" u="none">
                <a:solidFill>
                  <a:schemeClr val="lt1">
                    <a:lumMod val="65000"/>
                  </a:schemeClr>
                </a:solidFill>
                <a:uFillTx/>
                <a:latin typeface="Arial"/>
                <a:ea typeface="DejaVu Sans"/>
              </a:rPr>
              <a:t>.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59" name="Google Shape;285;p 3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160" name="Google Shape;286;p 3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1" name="Google Shape;287;p 3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62" name="" descr=""/>
          <p:cNvPicPr/>
          <p:nvPr/>
        </p:nvPicPr>
        <p:blipFill>
          <a:blip r:embed="rId3"/>
          <a:stretch/>
        </p:blipFill>
        <p:spPr>
          <a:xfrm>
            <a:off x="0" y="1800000"/>
            <a:ext cx="5040000" cy="478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336;p70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64" name="Google Shape;337;p70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5" name="Google Shape;338;p70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Google Shape;339;p70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Google Shape;321;p69"/>
          <p:cNvSpPr/>
          <p:nvPr/>
        </p:nvSpPr>
        <p:spPr>
          <a:xfrm>
            <a:off x="159840" y="1052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Offshore Argentina coverage of Ascension station H10N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TextBox 5"/>
          <p:cNvSpPr/>
          <p:nvPr/>
        </p:nvSpPr>
        <p:spPr>
          <a:xfrm>
            <a:off x="5220000" y="6261840"/>
            <a:ext cx="696924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GB" sz="1000" strike="noStrike" u="none" baseline="30000">
                <a:solidFill>
                  <a:schemeClr val="dk1"/>
                </a:solidFill>
                <a:uFillTx/>
                <a:latin typeface="Arial"/>
                <a:ea typeface="DejaVu Sans"/>
              </a:rPr>
              <a:t>(4)  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Prario, I., Cinquini, M., Marques Rojo, R.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et al.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Characterization of the Acoustic Event Associated with the Loss of the ARA San Juan Submarine Based on Long-Range Measurements by CTBTO’s Hydrophone Stations.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Pure Appl. Geophys.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</a:t>
            </a:r>
            <a:r>
              <a:rPr b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180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, 1317–1342 (2023). https://doi.org/10.1007/s00024-022-03090-0</a:t>
            </a:r>
            <a:r>
              <a:rPr b="0" lang="en-GB" sz="1050" strike="noStrike" u="none">
                <a:solidFill>
                  <a:schemeClr val="lt1">
                    <a:lumMod val="65000"/>
                  </a:schemeClr>
                </a:solidFill>
                <a:uFillTx/>
                <a:latin typeface="Arial"/>
                <a:ea typeface="DejaVu Sans"/>
              </a:rPr>
              <a:t>.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9" name="Google Shape;343;p 1"/>
          <p:cNvSpPr/>
          <p:nvPr/>
        </p:nvSpPr>
        <p:spPr>
          <a:xfrm>
            <a:off x="5220000" y="1800000"/>
            <a:ext cx="661896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1284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 frequencies (f &lt; 10 Hz): coastal shadow zones, TL &gt; 200 dB.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Higher frequencies (10 Hz &lt; f &lt; 80 Hz): partial coverage, but limited in shallow waters.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Argentinian continental slope acts as an acoustic filter.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Coastal coverage gaps: long-range IMS hydroacoustic stations miss nearshore regions.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Local minima of TL in the continental slope </a:t>
            </a:r>
            <a:br>
              <a:rPr sz="2000"/>
            </a:b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(ARA San Juan wreckage, signal of 2017 implosion event was detected in two IMS-HA stations</a:t>
            </a:r>
            <a:r>
              <a:rPr b="0" lang="en-GB" sz="20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4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Offshore candidate sites identified: 1-MDQ, 2-CRD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70" name="Google Shape;285;p 4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171" name="Google Shape;286;p 4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2" name="Google Shape;287;p 4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73" name="" descr=""/>
          <p:cNvPicPr/>
          <p:nvPr/>
        </p:nvPicPr>
        <p:blipFill>
          <a:blip r:embed="rId3"/>
          <a:stretch/>
        </p:blipFill>
        <p:spPr>
          <a:xfrm>
            <a:off x="0" y="1800000"/>
            <a:ext cx="5040000" cy="478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350;p71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75" name="Google Shape;351;p71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Google Shape;352;p71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7" name="Google Shape;353;p71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Google Shape;321;p69"/>
          <p:cNvSpPr/>
          <p:nvPr/>
        </p:nvSpPr>
        <p:spPr>
          <a:xfrm>
            <a:off x="159840" y="1052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Offshore Argentina coverage of Ascension station H10N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TextBox 7"/>
          <p:cNvSpPr/>
          <p:nvPr/>
        </p:nvSpPr>
        <p:spPr>
          <a:xfrm>
            <a:off x="5220000" y="6261840"/>
            <a:ext cx="696924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GB" sz="1000" strike="noStrike" u="none" baseline="30000">
                <a:solidFill>
                  <a:schemeClr val="dk1"/>
                </a:solidFill>
                <a:uFillTx/>
                <a:latin typeface="Arial"/>
                <a:ea typeface="DejaVu Sans"/>
              </a:rPr>
              <a:t>(4)  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Prario, I., Cinquini, M., Marques Rojo, R.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et al.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Characterization of the Acoustic Event Associated with the Loss of the ARA San Juan Submarine Based on Long-Range Measurements by CTBTO’s Hydrophone Stations.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Pure Appl. Geophys.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</a:t>
            </a:r>
            <a:r>
              <a:rPr b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180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, 1317–1342 (2023). https://doi.org/10.1007/s00024-022-03090-0</a:t>
            </a:r>
            <a:r>
              <a:rPr b="0" lang="en-GB" sz="1050" strike="noStrike" u="none">
                <a:solidFill>
                  <a:schemeClr val="lt1">
                    <a:lumMod val="65000"/>
                  </a:schemeClr>
                </a:solidFill>
                <a:uFillTx/>
                <a:latin typeface="Arial"/>
                <a:ea typeface="DejaVu Sans"/>
              </a:rPr>
              <a:t>.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Google Shape;343;p 2"/>
          <p:cNvSpPr/>
          <p:nvPr/>
        </p:nvSpPr>
        <p:spPr>
          <a:xfrm>
            <a:off x="5220000" y="1800000"/>
            <a:ext cx="661896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1284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 frequencies (f &lt; 10 Hz): coastal shadow zones, TL &gt; 200 dB.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Higher frequencies (10 Hz &lt; f &lt; 80 Hz): partial coverage, but limited in shallow waters.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Argentinian continental slope acts as an acoustic filter.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Coastal coverage gaps: long-range IMS hydroacoustic stations miss nearshore regions.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Local minima of TL in the continental slope </a:t>
            </a:r>
            <a:br>
              <a:rPr sz="2000"/>
            </a:b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(ARA San Juan wreckage, signal of 2017 implosion event was detected in two IMS-HA stations</a:t>
            </a:r>
            <a:r>
              <a:rPr b="0" lang="en-GB" sz="20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4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Offshore candidate sites identified: 1-MDQ, 2-CRD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81" name="Google Shape;285;p 5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182" name="Google Shape;286;p 5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3" name="Google Shape;287;p 5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84" name="" descr=""/>
          <p:cNvPicPr/>
          <p:nvPr/>
        </p:nvPicPr>
        <p:blipFill>
          <a:blip r:embed="rId3"/>
          <a:stretch/>
        </p:blipFill>
        <p:spPr>
          <a:xfrm>
            <a:off x="0" y="1800000"/>
            <a:ext cx="5040000" cy="478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364;p72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86" name="Google Shape;365;p 1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Google Shape;366;p 1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8" name="Google Shape;367;p 1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Google Shape;321;p 2"/>
          <p:cNvSpPr/>
          <p:nvPr/>
        </p:nvSpPr>
        <p:spPr>
          <a:xfrm>
            <a:off x="159840" y="1052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Offshore Argentina coverage of Ascension station H10N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0" name="TextBox 1"/>
          <p:cNvSpPr/>
          <p:nvPr/>
        </p:nvSpPr>
        <p:spPr>
          <a:xfrm>
            <a:off x="5220000" y="6261840"/>
            <a:ext cx="696924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GB" sz="1000" strike="noStrike" u="none" baseline="30000">
                <a:solidFill>
                  <a:schemeClr val="dk1"/>
                </a:solidFill>
                <a:uFillTx/>
                <a:latin typeface="Arial"/>
                <a:ea typeface="DejaVu Sans"/>
              </a:rPr>
              <a:t>(4)  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Prario, I., Cinquini, M., Marques Rojo, R.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et al.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Characterization of the Acoustic Event Associated with the Loss of the ARA San Juan Submarine Based on Long-Range Measurements by CTBTO’s Hydrophone Stations.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Pure Appl. Geophys.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</a:t>
            </a:r>
            <a:r>
              <a:rPr b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180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, 1317–1342 (2023). https://doi.org/10.1007/s00024-022-03090-0</a:t>
            </a:r>
            <a:r>
              <a:rPr b="0" lang="en-GB" sz="1050" strike="noStrike" u="none">
                <a:solidFill>
                  <a:schemeClr val="lt1">
                    <a:lumMod val="65000"/>
                  </a:schemeClr>
                </a:solidFill>
                <a:uFillTx/>
                <a:latin typeface="Arial"/>
                <a:ea typeface="DejaVu Sans"/>
              </a:rPr>
              <a:t>.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Google Shape;343;p 3"/>
          <p:cNvSpPr/>
          <p:nvPr/>
        </p:nvSpPr>
        <p:spPr>
          <a:xfrm>
            <a:off x="5220000" y="1800000"/>
            <a:ext cx="661896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1284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 frequencies (f &lt; 10 Hz): coastal shadow zones, TL &gt; 200 dB.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Higher frequencies (10 Hz &lt; f &lt; 80 Hz): partial coverage, but limited in shallow waters.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Argentinian continental slope acts as an acoustic filter.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Coastal coverage gaps: long-range IMS hydroacoustic stations miss nearshore regions.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Local minima of TL in the continental slope </a:t>
            </a:r>
            <a:br>
              <a:rPr sz="2000"/>
            </a:b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(ARA San Juan wreckage, signal of 2017 implosion event was detected in two IMS-HA stations</a:t>
            </a:r>
            <a:r>
              <a:rPr b="0" lang="en-GB" sz="20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4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Offshore candidate sites identified: 1-MDQ, 2-CRD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192" name="Google Shape;285;p 6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193" name="Google Shape;286;p 6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94" name="Google Shape;287;p 6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95" name="" descr=""/>
          <p:cNvPicPr/>
          <p:nvPr/>
        </p:nvPicPr>
        <p:blipFill>
          <a:blip r:embed="rId3"/>
          <a:stretch/>
        </p:blipFill>
        <p:spPr>
          <a:xfrm>
            <a:off x="0" y="1800000"/>
            <a:ext cx="5040000" cy="478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" descr=""/>
          <p:cNvPicPr/>
          <p:nvPr/>
        </p:nvPicPr>
        <p:blipFill>
          <a:blip r:embed="rId1"/>
          <a:stretch/>
        </p:blipFill>
        <p:spPr>
          <a:xfrm>
            <a:off x="0" y="1800000"/>
            <a:ext cx="5040000" cy="47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Google Shape;364;p 1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98" name="Google Shape;365;p 2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9" name="Google Shape;366;p 2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0" name="Google Shape;367;p 2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1" name="Google Shape;321;p 4"/>
          <p:cNvSpPr/>
          <p:nvPr/>
        </p:nvSpPr>
        <p:spPr>
          <a:xfrm>
            <a:off x="159840" y="1052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Offshore Argentina coverage of Ascension station H10N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2" name="Google Shape;388;p 1"/>
          <p:cNvSpPr/>
          <p:nvPr/>
        </p:nvSpPr>
        <p:spPr>
          <a:xfrm>
            <a:off x="1485720" y="3893760"/>
            <a:ext cx="750240" cy="714240"/>
          </a:xfrm>
          <a:prstGeom prst="ellipse">
            <a:avLst/>
          </a:prstGeom>
          <a:noFill/>
          <a:ln w="3600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03" name="Google Shape;343;p 6"/>
          <p:cNvSpPr/>
          <p:nvPr/>
        </p:nvSpPr>
        <p:spPr>
          <a:xfrm>
            <a:off x="5220000" y="1800000"/>
            <a:ext cx="661896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1284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 frequencies (f &lt; 10 Hz): coastal shadow zones, TL &gt; 200 dB.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Higher frequencies (10 Hz &lt; f &lt; 80 Hz): partial coverage, but limited in shallow waters.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Argentinian continental slope acts as an acoustic filter.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Coastal coverage gaps: long-range IMS hydroacoustic stations miss nearshore regions.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Local minima of TL in the continental slope </a:t>
            </a:r>
            <a:br>
              <a:rPr sz="2000"/>
            </a:b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</a:t>
            </a:r>
            <a:r>
              <a:rPr b="0" lang="en-GB" sz="2000" strike="noStrike" u="none">
                <a:solidFill>
                  <a:srgbClr val="ffffff"/>
                </a:solidFill>
                <a:highlight>
                  <a:srgbClr val="ff8000"/>
                </a:highlight>
                <a:uFillTx/>
                <a:latin typeface="Arial"/>
                <a:ea typeface="Arial"/>
              </a:rPr>
              <a:t>ARA San Juan wreckage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, signal of 2017 implosion event was detected in two IMS-HA stations</a:t>
            </a:r>
            <a:r>
              <a:rPr b="0" lang="en-GB" sz="20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4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Offshore candidate sites identified: 1-MDQ, 2-CRD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TextBox 2"/>
          <p:cNvSpPr/>
          <p:nvPr/>
        </p:nvSpPr>
        <p:spPr>
          <a:xfrm>
            <a:off x="5220000" y="6261840"/>
            <a:ext cx="696924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GB" sz="1000" strike="noStrike" u="none" baseline="30000">
                <a:solidFill>
                  <a:schemeClr val="dk1"/>
                </a:solidFill>
                <a:uFillTx/>
                <a:latin typeface="Arial"/>
                <a:ea typeface="DejaVu Sans"/>
              </a:rPr>
              <a:t>(4)  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Prario, I., Cinquini, M., Marques Rojo, R.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et al.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Characterization of the Acoustic Event Associated with the Loss of the ARA San Juan Submarine Based on Long-Range Measurements by CTBTO’s Hydrophone Stations.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Pure Appl. Geophys.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</a:t>
            </a:r>
            <a:r>
              <a:rPr b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180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, 1317–1342 (2023). https://doi.org/10.1007/s00024-022-03090-0</a:t>
            </a:r>
            <a:r>
              <a:rPr b="0" lang="en-GB" sz="1050" strike="noStrike" u="none">
                <a:solidFill>
                  <a:schemeClr val="lt1">
                    <a:lumMod val="65000"/>
                  </a:schemeClr>
                </a:solidFill>
                <a:uFillTx/>
                <a:latin typeface="Arial"/>
                <a:ea typeface="DejaVu Sans"/>
              </a:rPr>
              <a:t>.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05" name="Google Shape;285;p 7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206" name="Google Shape;286;p 7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7" name="Google Shape;287;p 7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" descr=""/>
          <p:cNvPicPr/>
          <p:nvPr/>
        </p:nvPicPr>
        <p:blipFill>
          <a:blip r:embed="rId1"/>
          <a:stretch/>
        </p:blipFill>
        <p:spPr>
          <a:xfrm>
            <a:off x="0" y="1800000"/>
            <a:ext cx="5040000" cy="478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Google Shape;378;p73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10" name="Google Shape;379;p73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1" name="Google Shape;380;p73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2" name="Google Shape;381;p73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13" name="Google Shape;387;p73" descr=""/>
          <p:cNvPicPr/>
          <p:nvPr/>
        </p:nvPicPr>
        <p:blipFill>
          <a:blip r:embed="rId2"/>
          <a:stretch/>
        </p:blipFill>
        <p:spPr>
          <a:xfrm>
            <a:off x="2448000" y="3466080"/>
            <a:ext cx="1758240" cy="1172160"/>
          </a:xfrm>
          <a:prstGeom prst="rect">
            <a:avLst/>
          </a:prstGeom>
          <a:noFill/>
          <a:ln w="36000">
            <a:solidFill>
              <a:srgbClr val="ff3838"/>
            </a:solidFill>
            <a:round/>
          </a:ln>
        </p:spPr>
      </p:pic>
      <p:sp>
        <p:nvSpPr>
          <p:cNvPr id="214" name="Google Shape;388;p73"/>
          <p:cNvSpPr/>
          <p:nvPr/>
        </p:nvSpPr>
        <p:spPr>
          <a:xfrm>
            <a:off x="1989720" y="2309400"/>
            <a:ext cx="750240" cy="714240"/>
          </a:xfrm>
          <a:prstGeom prst="ellipse">
            <a:avLst/>
          </a:prstGeom>
          <a:noFill/>
          <a:ln w="36000">
            <a:solidFill>
              <a:srgbClr val="ff383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215" name="Google Shape;389;p73"/>
          <p:cNvCxnSpPr/>
          <p:nvPr/>
        </p:nvCxnSpPr>
        <p:spPr>
          <a:xfrm>
            <a:off x="2565720" y="2993400"/>
            <a:ext cx="134280" cy="471240"/>
          </a:xfrm>
          <a:prstGeom prst="straightConnector1">
            <a:avLst/>
          </a:prstGeom>
          <a:ln w="36000">
            <a:solidFill>
              <a:srgbClr val="ff3838"/>
            </a:solidFill>
            <a:round/>
            <a:tailEnd len="med" type="triangle" w="med"/>
          </a:ln>
        </p:spPr>
      </p:cxnSp>
      <p:sp>
        <p:nvSpPr>
          <p:cNvPr id="216" name="Google Shape;390;p73"/>
          <p:cNvSpPr/>
          <p:nvPr/>
        </p:nvSpPr>
        <p:spPr>
          <a:xfrm>
            <a:off x="612000" y="3780000"/>
            <a:ext cx="861120" cy="797400"/>
          </a:xfrm>
          <a:prstGeom prst="ellipse">
            <a:avLst/>
          </a:prstGeom>
          <a:noFill/>
          <a:ln w="36000">
            <a:solidFill>
              <a:srgbClr val="3faf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217" name="Google Shape;391;p73" descr=""/>
          <p:cNvPicPr/>
          <p:nvPr/>
        </p:nvPicPr>
        <p:blipFill>
          <a:blip r:embed="rId3"/>
          <a:stretch/>
        </p:blipFill>
        <p:spPr>
          <a:xfrm>
            <a:off x="1115280" y="4932000"/>
            <a:ext cx="1722960" cy="1074240"/>
          </a:xfrm>
          <a:prstGeom prst="rect">
            <a:avLst/>
          </a:prstGeom>
          <a:noFill/>
          <a:ln w="36000">
            <a:solidFill>
              <a:srgbClr val="3faf46"/>
            </a:solidFill>
            <a:round/>
          </a:ln>
        </p:spPr>
      </p:pic>
      <p:cxnSp>
        <p:nvCxnSpPr>
          <p:cNvPr id="218" name="Google Shape;392;p73"/>
          <p:cNvCxnSpPr/>
          <p:nvPr/>
        </p:nvCxnSpPr>
        <p:spPr>
          <a:xfrm>
            <a:off x="1419480" y="4391280"/>
            <a:ext cx="171360" cy="546480"/>
          </a:xfrm>
          <a:prstGeom prst="straightConnector1">
            <a:avLst/>
          </a:prstGeom>
          <a:ln w="36000">
            <a:solidFill>
              <a:srgbClr val="3faf46"/>
            </a:solidFill>
            <a:round/>
            <a:tailEnd len="med" type="triangle" w="med"/>
          </a:ln>
        </p:spPr>
      </p:cxnSp>
      <p:sp>
        <p:nvSpPr>
          <p:cNvPr id="219" name="Google Shape;321;p69"/>
          <p:cNvSpPr/>
          <p:nvPr/>
        </p:nvSpPr>
        <p:spPr>
          <a:xfrm>
            <a:off x="159840" y="1052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Offshore Argentina coverage of Ascension station H10N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0" name="Google Shape;343;p 4"/>
          <p:cNvSpPr/>
          <p:nvPr/>
        </p:nvSpPr>
        <p:spPr>
          <a:xfrm>
            <a:off x="5220000" y="1800000"/>
            <a:ext cx="661896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1284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 frequencies (f &lt; 10 Hz): coastal shadow zones, TL &gt; 200 dB.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720000" indent="-216000" algn="just" defTabSz="914400">
              <a:lnSpc>
                <a:spcPct val="100000"/>
              </a:lnSpc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Higher frequencies (10 Hz &lt; f &lt; 80 Hz): partial coverage, but limited in shallow waters.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Argentinian continental slope acts as an acoustic filter.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Coastal coverage gaps: long-range IMS hydroacoustic stations miss nearshore regions.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Local minima of TL in the continental slope </a:t>
            </a:r>
            <a:br>
              <a:rPr sz="2000"/>
            </a:b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(ARA San Juan wreckage, signal of 2017 implosion event was detected in two IMS-HA stations</a:t>
            </a:r>
            <a:r>
              <a:rPr b="0" lang="en-GB" sz="20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3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001"/>
              </a:spcBef>
              <a:buClr>
                <a:srgbClr val="2a6099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Offshore candidate sites identified: </a:t>
            </a:r>
            <a:r>
              <a:rPr b="0" lang="en-GB" sz="2000" strike="noStrike" u="none">
                <a:solidFill>
                  <a:srgbClr val="ffffff"/>
                </a:solidFill>
                <a:highlight>
                  <a:srgbClr val="ff3838"/>
                </a:highlight>
                <a:uFillTx/>
                <a:latin typeface="Arial"/>
                <a:ea typeface="Arial"/>
              </a:rPr>
              <a:t>1-MDQ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, </a:t>
            </a:r>
            <a:r>
              <a:rPr b="0" lang="en-GB" sz="2000" strike="noStrike" u="none">
                <a:solidFill>
                  <a:srgbClr val="ffffff"/>
                </a:solidFill>
                <a:highlight>
                  <a:srgbClr val="3faf46"/>
                </a:highlight>
                <a:uFillTx/>
                <a:latin typeface="Arial"/>
                <a:ea typeface="Arial"/>
              </a:rPr>
              <a:t>2-CRD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1" name="TextBox 4"/>
          <p:cNvSpPr/>
          <p:nvPr/>
        </p:nvSpPr>
        <p:spPr>
          <a:xfrm>
            <a:off x="5220000" y="6261840"/>
            <a:ext cx="6969240" cy="43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en-GB" sz="1000" strike="noStrike" u="none" baseline="30000">
                <a:solidFill>
                  <a:schemeClr val="dk1"/>
                </a:solidFill>
                <a:uFillTx/>
                <a:latin typeface="Arial"/>
                <a:ea typeface="DejaVu Sans"/>
              </a:rPr>
              <a:t>(4)  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Prario, I., Cinquini, M., Marques Rojo, R.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et al.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Characterization of the Acoustic Event Associated with the Loss of the ARA San Juan Submarine Based on Long-Range Measurements by CTBTO’s Hydrophone Stations. </a:t>
            </a:r>
            <a:r>
              <a:rPr b="0" i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Pure Appl. Geophys.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 </a:t>
            </a:r>
            <a:r>
              <a:rPr b="1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180</a:t>
            </a:r>
            <a:r>
              <a:rPr b="0" lang="en-GB" sz="1000" strike="noStrike" u="none">
                <a:solidFill>
                  <a:schemeClr val="dk1"/>
                </a:solidFill>
                <a:uFillTx/>
                <a:latin typeface="Arial"/>
                <a:ea typeface="DejaVu Sans"/>
              </a:rPr>
              <a:t>, 1317–1342 (2023). https://doi.org/10.1007/s00024-022-03090-0</a:t>
            </a:r>
            <a:r>
              <a:rPr b="0" lang="en-GB" sz="1050" strike="noStrike" u="none">
                <a:solidFill>
                  <a:schemeClr val="lt1">
                    <a:lumMod val="65000"/>
                  </a:schemeClr>
                </a:solidFill>
                <a:uFillTx/>
                <a:latin typeface="Arial"/>
                <a:ea typeface="DejaVu Sans"/>
              </a:rPr>
              <a:t>.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22" name="Google Shape;285;p 8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223" name="Google Shape;286;p 8" descr=""/>
            <p:cNvPicPr/>
            <p:nvPr/>
          </p:nvPicPr>
          <p:blipFill>
            <a:blip r:embed="rId4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4" name="Google Shape;287;p 8" descr=""/>
            <p:cNvPicPr/>
            <p:nvPr/>
          </p:nvPicPr>
          <p:blipFill>
            <a:blip r:embed="rId5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731;p88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26" name="Google Shape;732;p88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7" name="Google Shape;733;p88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8" name="Google Shape;734;p88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9" name="Google Shape;736;p88"/>
          <p:cNvSpPr/>
          <p:nvPr/>
        </p:nvSpPr>
        <p:spPr>
          <a:xfrm>
            <a:off x="144000" y="1620000"/>
            <a:ext cx="652608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Specific goal: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Assess acoustic coverage over the continental shelf and adjacent waters.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Acoustic scenario: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Frequency range: 2 Hz – 100 Hz </a:t>
            </a:r>
            <a:br>
              <a:rPr sz="2000"/>
            </a:b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(results shown at 10, 20, 50, 80 Hz).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Source depth = 8 m (typical airgun tow depth).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Receiver depth (hydrophone) = 40 m.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T, S profiles from Copernicus.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Bathymetry from GEBCO database.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Seabed properties from </a:t>
            </a:r>
            <a:r>
              <a:rPr b="0" i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Jensen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i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et al.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NL~80-85 dB re 1µPa</a:t>
            </a:r>
            <a:r>
              <a:rPr b="0" lang="en-GB" sz="20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Simulation: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2D PE with RAM.jl.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Transmission Loss (TL) along Nx2D radial transects from the candidate location.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Google Shape;321;p69"/>
          <p:cNvSpPr/>
          <p:nvPr/>
        </p:nvSpPr>
        <p:spPr>
          <a:xfrm>
            <a:off x="159840" y="1052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1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station (offshore Mar del Plata -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MDQ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31" name="" descr=""/>
          <p:cNvPicPr/>
          <p:nvPr/>
        </p:nvPicPr>
        <p:blipFill>
          <a:blip r:embed="rId1"/>
          <a:stretch/>
        </p:blipFill>
        <p:spPr>
          <a:xfrm>
            <a:off x="6552000" y="1620000"/>
            <a:ext cx="5399280" cy="5165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32" name="Google Shape;285;p 9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233" name="Google Shape;286;p 9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4" name="Google Shape;287;p 9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731;p 1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36" name="Google Shape;732;p 1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Google Shape;733;p 1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8" name="Google Shape;734;p 1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Google Shape;321;p 1"/>
          <p:cNvSpPr/>
          <p:nvPr/>
        </p:nvSpPr>
        <p:spPr>
          <a:xfrm>
            <a:off x="159840" y="1052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1 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station (offshore Mar del Plata -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MDQ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40" name="" descr=""/>
          <p:cNvPicPr/>
          <p:nvPr/>
        </p:nvPicPr>
        <p:blipFill>
          <a:blip r:embed="rId1"/>
          <a:stretch/>
        </p:blipFill>
        <p:spPr>
          <a:xfrm>
            <a:off x="0" y="1800000"/>
            <a:ext cx="6119280" cy="484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Google Shape;736;p 5"/>
          <p:cNvSpPr/>
          <p:nvPr/>
        </p:nvSpPr>
        <p:spPr>
          <a:xfrm>
            <a:off x="6120000" y="2164320"/>
            <a:ext cx="567432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 low frequencies (f &lt; 10 Hz) show larger shadow zones.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Filtering effect: continental slope reduces transmission at low frequencies ( f &lt; 20 Hz).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Improved coverage at 50 Hz &lt; f &lt; 80 Hz band across shelf and slope.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Shallow-water gap: limited detectability close to the coast (depth z &lt; 200 m 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Implication: buoy-deployed hydrophones at MDQ station enhances monitoring in northern shelf region.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42" name="Google Shape;285;p 10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243" name="Google Shape;286;p 10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4" name="Google Shape;287;p 10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745;p89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46" name="Google Shape;746;p89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7" name="Google Shape;747;p89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8" name="Google Shape;748;p89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9" name="Google Shape;321;p69"/>
          <p:cNvSpPr/>
          <p:nvPr/>
        </p:nvSpPr>
        <p:spPr>
          <a:xfrm>
            <a:off x="159840" y="1052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1 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station (offshore Mar del Plata -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MDQ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0" name="" descr=""/>
          <p:cNvPicPr/>
          <p:nvPr/>
        </p:nvPicPr>
        <p:blipFill>
          <a:blip r:embed="rId1"/>
          <a:stretch/>
        </p:blipFill>
        <p:spPr>
          <a:xfrm>
            <a:off x="0" y="1800000"/>
            <a:ext cx="6119280" cy="484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1" name="Google Shape;736;p 4"/>
          <p:cNvSpPr/>
          <p:nvPr/>
        </p:nvSpPr>
        <p:spPr>
          <a:xfrm>
            <a:off x="6120000" y="2164320"/>
            <a:ext cx="567432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 low frequencies (f &lt; 10 Hz) show larger shadow zones.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Filtering effect: continental slope reduces transmission at low frequencies ( f &lt; 20 Hz).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Improved coverage at 50 Hz &lt; f &lt; 80 Hz band across shelf and slope.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Shallow-water gap: limited detectability close to the coast (depth z &lt; 200 m 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Implication: buoy-deployed hydrophones at MDQ station enhances monitoring in northern shelf region.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52" name="Google Shape;285;p 11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253" name="Google Shape;286;p 11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4" name="Google Shape;287;p 11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759;p90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56" name="Google Shape;760;p90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7" name="Google Shape;761;p90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8" name="Google Shape;762;p90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9" name="Google Shape;321;p69"/>
          <p:cNvSpPr/>
          <p:nvPr/>
        </p:nvSpPr>
        <p:spPr>
          <a:xfrm>
            <a:off x="159840" y="1052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1 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station (offshore Mar del Plata -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MDQ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60" name="" descr=""/>
          <p:cNvPicPr/>
          <p:nvPr/>
        </p:nvPicPr>
        <p:blipFill>
          <a:blip r:embed="rId1"/>
          <a:stretch/>
        </p:blipFill>
        <p:spPr>
          <a:xfrm>
            <a:off x="0" y="1800000"/>
            <a:ext cx="6119280" cy="484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Google Shape;736;p 3"/>
          <p:cNvSpPr/>
          <p:nvPr/>
        </p:nvSpPr>
        <p:spPr>
          <a:xfrm>
            <a:off x="6120000" y="2164320"/>
            <a:ext cx="567432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 low frequencies (f &lt; 10 Hz) show larger shadow zones.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Filtering effect: continental slope reduces transmission at low frequencies ( f &lt; 20 Hz).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Improved coverage at 50 Hz &lt; f &lt; 80 Hz band across shelf and slope.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Shallow-water gap: limited detectability close to the coast (depth z &lt; 200 m 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Implication: buoy-deployed hydrophones at MDQ station enhances monitoring in northern shelf region.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62" name="Google Shape;285;p 12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263" name="Google Shape;286;p 12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64" name="Google Shape;287;p 12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773;p91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66" name="Google Shape;774;p91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7" name="Google Shape;775;p91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8" name="Google Shape;776;p91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9" name="Google Shape;321;p69"/>
          <p:cNvSpPr/>
          <p:nvPr/>
        </p:nvSpPr>
        <p:spPr>
          <a:xfrm>
            <a:off x="159840" y="1052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1 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station (offshore Mar del Plata - </a:t>
            </a:r>
            <a:r>
              <a:rPr b="1" lang="en-GB" sz="2400" strike="noStrike" u="none">
                <a:solidFill>
                  <a:srgbClr val="ff3838"/>
                </a:solidFill>
                <a:uFillTx/>
                <a:latin typeface="Arial"/>
                <a:ea typeface="Arial"/>
              </a:rPr>
              <a:t>MDQ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70" name="" descr=""/>
          <p:cNvPicPr/>
          <p:nvPr/>
        </p:nvPicPr>
        <p:blipFill>
          <a:blip r:embed="rId1"/>
          <a:stretch/>
        </p:blipFill>
        <p:spPr>
          <a:xfrm>
            <a:off x="0" y="1800000"/>
            <a:ext cx="6119280" cy="484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Google Shape;736;p 1"/>
          <p:cNvSpPr/>
          <p:nvPr/>
        </p:nvSpPr>
        <p:spPr>
          <a:xfrm>
            <a:off x="6120000" y="2164320"/>
            <a:ext cx="567432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Strong frequency dependence: low frequencies (f &lt; 10 Hz) show larger shadow zones.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Filtering effect: continental slope reduces transmission at low frequencies ( f &lt; 20 Hz).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Improved coverage at 50 Hz &lt; f &lt; 80 Hz band across shelf and slope.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Shallow-water gap: limited detectability close to the coast (depth z &lt; 200 m 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ff3838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Implication: buoy-deployed hydrophones at MDQ station enhances monitoring in northern shelf region.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72" name="Google Shape;285;p 13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273" name="Google Shape;286;p 13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74" name="Google Shape;287;p 13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731;p 2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76" name="Google Shape;732;p 3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7" name="Google Shape;733;p 3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8" name="Google Shape;734;p 3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9" name="Google Shape;321;p 3"/>
          <p:cNvSpPr/>
          <p:nvPr/>
        </p:nvSpPr>
        <p:spPr>
          <a:xfrm>
            <a:off x="159840" y="1052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2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station (offshore Comodoro Rivadavia -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CRD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0" name="Google Shape;736;p 2"/>
          <p:cNvSpPr/>
          <p:nvPr/>
        </p:nvSpPr>
        <p:spPr>
          <a:xfrm>
            <a:off x="180000" y="1602360"/>
            <a:ext cx="641772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Specific goal: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Assess acoustic coverage over the continental shelf and adjacent waters.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Acoustic scenario: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Frequency range: 2 Hz – 100 Hz </a:t>
            </a:r>
            <a:br>
              <a:rPr sz="2000"/>
            </a:b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(results shown at 10, 20, 50, 80 Hz).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Source depth = 8 m (typical airgun tow depth).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Receiver depth (hydrophone) = 40 m.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T, S profiles from Copernicus.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Bathymetry from GEBCO database.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Seabed properties from </a:t>
            </a:r>
            <a:r>
              <a:rPr b="0" i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Jensen et al.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NL~80-85 dB re 1µPa</a:t>
            </a:r>
            <a:r>
              <a:rPr b="0" lang="en-GB" sz="2000" strike="noStrike" u="none" baseline="30000">
                <a:solidFill>
                  <a:srgbClr val="000000"/>
                </a:solidFill>
                <a:uFillTx/>
                <a:latin typeface="Arial"/>
                <a:ea typeface="Arial"/>
              </a:rPr>
              <a:t>2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Simulation: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2D PE with RAM.jl.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648000" indent="-216000" defTabSz="914400">
              <a:lnSpc>
                <a:spcPct val="100000"/>
              </a:lnSpc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Transmission Loss (TL) along Nx2D radial transects from the candidate location.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81" name="" descr=""/>
          <p:cNvPicPr/>
          <p:nvPr/>
        </p:nvPicPr>
        <p:blipFill>
          <a:blip r:embed="rId1"/>
          <a:stretch/>
        </p:blipFill>
        <p:spPr>
          <a:xfrm>
            <a:off x="6552000" y="1620000"/>
            <a:ext cx="5399280" cy="5165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82" name="Google Shape;285;p 14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283" name="Google Shape;286;p 14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4" name="Google Shape;287;p 14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787;p92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86" name="Google Shape;788;p92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7" name="Google Shape;789;p92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8" name="Google Shape;790;p92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9" name="Google Shape;321;p69"/>
          <p:cNvSpPr/>
          <p:nvPr/>
        </p:nvSpPr>
        <p:spPr>
          <a:xfrm>
            <a:off x="159840" y="1052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2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station (offshore Comodoro Rivadavia -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CRD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90" name="" descr=""/>
          <p:cNvPicPr/>
          <p:nvPr/>
        </p:nvPicPr>
        <p:blipFill>
          <a:blip r:embed="rId1"/>
          <a:stretch/>
        </p:blipFill>
        <p:spPr>
          <a:xfrm>
            <a:off x="0" y="1800000"/>
            <a:ext cx="6119280" cy="484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Google Shape;792;p 4"/>
          <p:cNvSpPr/>
          <p:nvPr/>
        </p:nvSpPr>
        <p:spPr>
          <a:xfrm>
            <a:off x="6120000" y="1991160"/>
            <a:ext cx="555156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Marked frequency variation: stronger propagation loss at 10 Hz – 20 Hz band rather than at 50 Hz – 80 Hz band.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Continental slope creates coastal shadow zones at low frequencies.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Broader mid-frequency coverage compared to MDQ station, extending farther offshore.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Shallow-water limitations remain near coastlines.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Implication: buoy-deployed hydrophones at CRD station can improve coverage in southern shelf and can complement MDQ station.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92" name="Google Shape;285;p 15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293" name="Google Shape;286;p 15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94" name="Google Shape;287;p 15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801;p93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296" name="Google Shape;802;p93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7" name="Google Shape;803;p93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8" name="Google Shape;804;p93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9" name="Google Shape;321;p69"/>
          <p:cNvSpPr/>
          <p:nvPr/>
        </p:nvSpPr>
        <p:spPr>
          <a:xfrm>
            <a:off x="159840" y="1052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2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station (offshore Comodoro Rivadavia -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CRD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00" name="" descr=""/>
          <p:cNvPicPr/>
          <p:nvPr/>
        </p:nvPicPr>
        <p:blipFill>
          <a:blip r:embed="rId1"/>
          <a:stretch/>
        </p:blipFill>
        <p:spPr>
          <a:xfrm>
            <a:off x="0" y="1800000"/>
            <a:ext cx="6119280" cy="484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Google Shape;792;p 3"/>
          <p:cNvSpPr/>
          <p:nvPr/>
        </p:nvSpPr>
        <p:spPr>
          <a:xfrm>
            <a:off x="6120000" y="1991160"/>
            <a:ext cx="555156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Marked frequency variation: stronger propagation loss at 10 Hz – 20 Hz band rather than at 50 Hz – 80 Hz band.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Continental slope creates coastal shadow zones at low frequencies.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Broader mid-frequency coverage compared to MDQ station, extending farther offshore.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Shallow-water limitations remain near coastlines.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Implication: buoy-deployed hydrophones at CRD station can improve coverage in southern shelf and can complement MDQ station.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02" name="Google Shape;285;p 16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303" name="Google Shape;286;p 16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04" name="Google Shape;287;p 16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815;p94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06" name="Google Shape;816;p94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7" name="Google Shape;817;p94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Google Shape;818;p94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9" name="Google Shape;321;p69"/>
          <p:cNvSpPr/>
          <p:nvPr/>
        </p:nvSpPr>
        <p:spPr>
          <a:xfrm>
            <a:off x="159840" y="1052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2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station (offshore Comodoro Rivadavia -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CRD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10" name="" descr=""/>
          <p:cNvPicPr/>
          <p:nvPr/>
        </p:nvPicPr>
        <p:blipFill>
          <a:blip r:embed="rId1"/>
          <a:stretch/>
        </p:blipFill>
        <p:spPr>
          <a:xfrm>
            <a:off x="0" y="1800000"/>
            <a:ext cx="6119280" cy="484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Google Shape;792;p 2"/>
          <p:cNvSpPr/>
          <p:nvPr/>
        </p:nvSpPr>
        <p:spPr>
          <a:xfrm>
            <a:off x="6120000" y="1991160"/>
            <a:ext cx="555156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Marked frequency variation: stronger propagation loss at 10 Hz – 20 Hz band rather than at 50 Hz – 80 Hz band.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Continental slope creates coastal shadow zones at low frequencies.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Broader mid-frequency coverage compared to MDQ station, extending farther offshore.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Shallow-water limitations remain near coastlines.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Implication: buoy-deployed hydrophones at CRD station can improve coverage in southern shelf and can complement MDQ station.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12" name="Google Shape;285;p 17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313" name="Google Shape;286;p 17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14" name="Google Shape;287;p 17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829;p95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16" name="Google Shape;830;p95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7" name="Google Shape;831;p95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8" name="Google Shape;832;p95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Google Shape;321;p69"/>
          <p:cNvSpPr/>
          <p:nvPr/>
        </p:nvSpPr>
        <p:spPr>
          <a:xfrm>
            <a:off x="159840" y="1052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Coverage of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candidate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2</a:t>
            </a:r>
            <a:r>
              <a:rPr b="1" lang="en-GB" sz="2400" strike="noStrike" u="none">
                <a:solidFill>
                  <a:srgbClr val="ff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station (offshore Comodoro Rivadavia - </a:t>
            </a:r>
            <a:r>
              <a:rPr b="1" lang="en-GB" sz="2400" strike="noStrike" u="none">
                <a:solidFill>
                  <a:srgbClr val="3faf46"/>
                </a:solidFill>
                <a:uFillTx/>
                <a:latin typeface="Arial"/>
                <a:ea typeface="Arial"/>
              </a:rPr>
              <a:t>CRD</a:t>
            </a: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)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20" name="" descr=""/>
          <p:cNvPicPr/>
          <p:nvPr/>
        </p:nvPicPr>
        <p:blipFill>
          <a:blip r:embed="rId1"/>
          <a:stretch/>
        </p:blipFill>
        <p:spPr>
          <a:xfrm>
            <a:off x="0" y="1800000"/>
            <a:ext cx="6119280" cy="484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Google Shape;792;p 1"/>
          <p:cNvSpPr/>
          <p:nvPr/>
        </p:nvSpPr>
        <p:spPr>
          <a:xfrm>
            <a:off x="6120000" y="1991160"/>
            <a:ext cx="555156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Marked frequency variation: stronger propagation loss at 10 Hz – 20 Hz band rather than at 50 Hz – 80 Hz band.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Continental slope creates coastal shadow zones at low frequencies.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Broader mid-frequency coverage compared to MDQ station, extending farther offshore.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Shallow-water limitations remain near coastlines.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850"/>
              </a:spcBef>
              <a:spcAft>
                <a:spcPts val="850"/>
              </a:spcAft>
              <a:buClr>
                <a:srgbClr val="3faf46"/>
              </a:buClr>
              <a:buSzPct val="60000"/>
              <a:buFont typeface="Wingdings" charset="2"/>
              <a:buChar char="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Implication: buoy-deployed hydrophones at CRD station can improve coverage in southern shelf and can complement MDQ station.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22" name="Google Shape;285;p 18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323" name="Google Shape;286;p 18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24" name="Google Shape;287;p 18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97;p 1"/>
          <p:cNvSpPr/>
          <p:nvPr/>
        </p:nvSpPr>
        <p:spPr>
          <a:xfrm>
            <a:off x="159840" y="908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Buoy Platform design for hydrophones deployment in selected stations 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6" name="Google Shape;399;p 1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27" name="Google Shape;400;p 1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8" name="Google Shape;401;p 1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9" name="Google Shape;402;p 1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30" name="Google Shape;403;p 1" descr=""/>
          <p:cNvPicPr/>
          <p:nvPr/>
        </p:nvPicPr>
        <p:blipFill>
          <a:blip r:embed="rId1"/>
          <a:stretch/>
        </p:blipFill>
        <p:spPr>
          <a:xfrm>
            <a:off x="335520" y="1484640"/>
            <a:ext cx="1735560" cy="514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1" name="Google Shape;398;p 2"/>
          <p:cNvSpPr/>
          <p:nvPr/>
        </p:nvSpPr>
        <p:spPr>
          <a:xfrm>
            <a:off x="2592000" y="1988640"/>
            <a:ext cx="914580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r>
              <a:rPr b="1" lang="es-AR" sz="20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Main objetives: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Clr>
                <a:srgbClr val="2a6099"/>
              </a:buClr>
              <a:buSzPct val="60000"/>
              <a:buFont typeface="Wingdings" charset="2"/>
              <a:buChar char=""/>
              <a:tabLst>
                <a:tab algn="l" pos="0"/>
              </a:tabLst>
            </a:pPr>
            <a:r>
              <a:rPr b="0" lang="es-AR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Characterization of ambient noise or underwater sound sources on the Argentinian continental shelf.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2a6099"/>
              </a:buClr>
              <a:buSzPct val="60000"/>
              <a:buFont typeface="Wingdings" charset="2"/>
              <a:buChar char=""/>
              <a:tabLst>
                <a:tab algn="l" pos="0"/>
              </a:tabLst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Contributing to the understanding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of</a:t>
            </a: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shallow-water acoustic propagation.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2a6099"/>
              </a:buClr>
              <a:buSzPct val="60000"/>
              <a:buFont typeface="Wingdings" charset="2"/>
              <a:buChar char=""/>
              <a:tabLst>
                <a:tab algn="l" pos="0"/>
              </a:tabLst>
            </a:pPr>
            <a:r>
              <a:rPr b="0" lang="es-ES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Potentially contribute to the understanding of long-range propagation using additional data from IMS-HA network.   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This custom-designed buoy is a prototype platform developed for the deployment of hydrophone array at near-shore semi-permanent stations.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32" name="Google Shape;285;p 19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333" name="Google Shape;286;p 19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34" name="Google Shape;287;p 19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97;p 1"/>
          <p:cNvSpPr/>
          <p:nvPr/>
        </p:nvSpPr>
        <p:spPr>
          <a:xfrm>
            <a:off x="159840" y="9086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Buoy Platform design for hydrophones deployment in selected stations 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6" name="Google Shape;398;p 1"/>
          <p:cNvSpPr/>
          <p:nvPr/>
        </p:nvSpPr>
        <p:spPr>
          <a:xfrm>
            <a:off x="2592000" y="1988640"/>
            <a:ext cx="914580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tabLst>
                <a:tab algn="l" pos="0"/>
              </a:tabLst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Features: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2a6099"/>
              </a:buClr>
              <a:buSzPct val="70000"/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 Glass-Reinforced Plastic hull for corrosion resistance and lightweight performance.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2a6099"/>
              </a:buClr>
              <a:buSzPct val="70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3 mooring lines for stable position.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2a6099"/>
              </a:buClr>
              <a:buSzPct val="70000"/>
              <a:buFont typeface="Wingdings" charset="2"/>
              <a:buChar char=""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  <a:ea typeface="DejaVu Sans"/>
              </a:rPr>
              <a:t>Stand-alone operation with solar power system.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2a6099"/>
              </a:buClr>
              <a:buSzPct val="70000"/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 sealed electronics compartment and a central mast for sensors, antennas, satellite transmission and GPS.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spcAft>
                <a:spcPts val="1134"/>
              </a:spcAft>
              <a:buClr>
                <a:srgbClr val="2a6099"/>
              </a:buClr>
              <a:buSzPct val="70000"/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Harsh marine conditions: strong currents and waves up to 4 meters.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7" name="Google Shape;399;p 1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38" name="Google Shape;400;p 1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9" name="Google Shape;401;p 1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0" name="Google Shape;402;p 1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41" name="Google Shape;403;p 1" descr=""/>
          <p:cNvPicPr/>
          <p:nvPr/>
        </p:nvPicPr>
        <p:blipFill>
          <a:blip r:embed="rId1"/>
          <a:stretch/>
        </p:blipFill>
        <p:spPr>
          <a:xfrm>
            <a:off x="335520" y="1484640"/>
            <a:ext cx="1735560" cy="5141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42" name="Google Shape;285;p 20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343" name="Google Shape;286;p 20" descr=""/>
            <p:cNvPicPr/>
            <p:nvPr/>
          </p:nvPicPr>
          <p:blipFill>
            <a:blip r:embed="rId2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4" name="Google Shape;287;p 20" descr=""/>
            <p:cNvPicPr/>
            <p:nvPr/>
          </p:nvPicPr>
          <p:blipFill>
            <a:blip r:embed="rId3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411;p75"/>
          <p:cNvSpPr/>
          <p:nvPr/>
        </p:nvSpPr>
        <p:spPr>
          <a:xfrm>
            <a:off x="159840" y="11894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Buoy Electronics Rack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6" name="Google Shape;412;p75"/>
          <p:cNvSpPr/>
          <p:nvPr/>
        </p:nvSpPr>
        <p:spPr>
          <a:xfrm>
            <a:off x="5519880" y="2356560"/>
            <a:ext cx="624852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Removable, lift-out aluminum rack houses: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07080" indent="-127080" defTabSz="914400">
              <a:lnSpc>
                <a:spcPct val="100000"/>
              </a:lnSpc>
              <a:spcBef>
                <a:spcPts val="2466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Fanless embedded computer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07080" indent="-127080" defTabSz="914400">
              <a:lnSpc>
                <a:spcPct val="100000"/>
              </a:lnSpc>
              <a:spcBef>
                <a:spcPts val="1616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24-bit audio interface for broadband hydrophone digitization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07080" indent="-127080" defTabSz="914400">
              <a:lnSpc>
                <a:spcPct val="100000"/>
              </a:lnSpc>
              <a:spcBef>
                <a:spcPts val="1616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Low-noise hydrophone preamplifiers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07080" indent="-127080" defTabSz="914400">
              <a:lnSpc>
                <a:spcPct val="100000"/>
              </a:lnSpc>
              <a:spcBef>
                <a:spcPts val="1616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AIS-AtoN (Automatic Identification System)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07080" indent="-127080" defTabSz="914400">
              <a:lnSpc>
                <a:spcPct val="100000"/>
              </a:lnSpc>
              <a:spcBef>
                <a:spcPts val="1616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Satellite modem for telemetry and command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07080" indent="-127080" defTabSz="914400">
              <a:lnSpc>
                <a:spcPct val="100000"/>
              </a:lnSpc>
              <a:spcBef>
                <a:spcPts val="1616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Deep-cycle battery with solar charge controller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7" name="Google Shape;413;p75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48" name="Google Shape;414;p75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9" name="Google Shape;415;p75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0" name="Google Shape;416;p75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51" name="Google Shape;420;p75"/>
          <p:cNvCxnSpPr/>
          <p:nvPr/>
        </p:nvCxnSpPr>
        <p:spPr>
          <a:xfrm>
            <a:off x="2214360" y="3883320"/>
            <a:ext cx="851400" cy="81000"/>
          </a:xfrm>
          <a:prstGeom prst="straightConnector1">
            <a:avLst/>
          </a:prstGeom>
          <a:ln w="9360">
            <a:solidFill>
              <a:srgbClr val="000000"/>
            </a:solidFill>
            <a:round/>
            <a:tailEnd len="med" type="triangle" w="med"/>
          </a:ln>
        </p:spPr>
      </p:cxnSp>
      <p:pic>
        <p:nvPicPr>
          <p:cNvPr id="352" name="Google Shape;422;p75" descr=""/>
          <p:cNvPicPr/>
          <p:nvPr/>
        </p:nvPicPr>
        <p:blipFill>
          <a:blip r:embed="rId1"/>
          <a:stretch/>
        </p:blipFill>
        <p:spPr>
          <a:xfrm>
            <a:off x="3024000" y="3069000"/>
            <a:ext cx="2196720" cy="323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3" name="307 Imagen" descr=""/>
          <p:cNvPicPr/>
          <p:nvPr/>
        </p:nvPicPr>
        <p:blipFill>
          <a:blip r:embed="rId2"/>
          <a:stretch/>
        </p:blipFill>
        <p:spPr>
          <a:xfrm>
            <a:off x="93600" y="703440"/>
            <a:ext cx="2963520" cy="6067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54" name="Google Shape;285;p 21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355" name="Google Shape;286;p 21" descr=""/>
            <p:cNvPicPr/>
            <p:nvPr/>
          </p:nvPicPr>
          <p:blipFill>
            <a:blip r:embed="rId3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56" name="Google Shape;287;p 21" descr=""/>
            <p:cNvPicPr/>
            <p:nvPr/>
          </p:nvPicPr>
          <p:blipFill>
            <a:blip r:embed="rId4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438;p77"/>
          <p:cNvSpPr/>
          <p:nvPr/>
        </p:nvSpPr>
        <p:spPr>
          <a:xfrm>
            <a:off x="159840" y="11894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Layered Architecture of the Embedded System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8" name="Google Shape;440;p77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59" name="Google Shape;441;p77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0" name="Google Shape;442;p77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1" name="Google Shape;443;p77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2" name="Google Shape;444;p77"/>
          <p:cNvSpPr/>
          <p:nvPr/>
        </p:nvSpPr>
        <p:spPr>
          <a:xfrm>
            <a:off x="6660000" y="1905840"/>
            <a:ext cx="4448880" cy="66636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Task Manager (System Orchestrator)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3" name="Google Shape;445;p77"/>
          <p:cNvSpPr/>
          <p:nvPr/>
        </p:nvSpPr>
        <p:spPr>
          <a:xfrm>
            <a:off x="6660000" y="3586680"/>
            <a:ext cx="4448880" cy="66672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Finite State Machine (FSM)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4" name="Google Shape;446;p77"/>
          <p:cNvSpPr/>
          <p:nvPr/>
        </p:nvSpPr>
        <p:spPr>
          <a:xfrm>
            <a:off x="6660000" y="5267520"/>
            <a:ext cx="4448880" cy="66672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Low-Level Driver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65" name="Google Shape;447;p77"/>
          <p:cNvCxnSpPr/>
          <p:nvPr/>
        </p:nvCxnSpPr>
        <p:spPr>
          <a:xfrm>
            <a:off x="10190160" y="4259160"/>
            <a:ext cx="5760" cy="101448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366" name="Google Shape;448;p77"/>
          <p:cNvCxnSpPr/>
          <p:nvPr/>
        </p:nvCxnSpPr>
        <p:spPr>
          <a:xfrm>
            <a:off x="10190160" y="2569680"/>
            <a:ext cx="5760" cy="101448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367" name="Google Shape;449;p77"/>
          <p:cNvCxnSpPr/>
          <p:nvPr/>
        </p:nvCxnSpPr>
        <p:spPr>
          <a:xfrm flipV="1">
            <a:off x="7500600" y="4250520"/>
            <a:ext cx="5760" cy="101448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368" name="Google Shape;450;p77"/>
          <p:cNvCxnSpPr/>
          <p:nvPr/>
        </p:nvCxnSpPr>
        <p:spPr>
          <a:xfrm flipV="1">
            <a:off x="7500600" y="2577960"/>
            <a:ext cx="5760" cy="101448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369" name="Google Shape;451;p77"/>
          <p:cNvSpPr/>
          <p:nvPr/>
        </p:nvSpPr>
        <p:spPr>
          <a:xfrm>
            <a:off x="10358280" y="2746080"/>
            <a:ext cx="150696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Signals to FSM 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0" name="Google Shape;452;p77"/>
          <p:cNvSpPr/>
          <p:nvPr/>
        </p:nvSpPr>
        <p:spPr>
          <a:xfrm>
            <a:off x="7560000" y="2664000"/>
            <a:ext cx="234756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Event reporting through message queues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1" name="Google Shape;453;p77"/>
          <p:cNvSpPr/>
          <p:nvPr/>
        </p:nvSpPr>
        <p:spPr>
          <a:xfrm>
            <a:off x="7584480" y="4477680"/>
            <a:ext cx="234756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Return status </a:t>
            </a:r>
            <a:br>
              <a:rPr sz="1800"/>
            </a:b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(OK / ERROR)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2" name="Google Shape;457;p77"/>
          <p:cNvSpPr/>
          <p:nvPr/>
        </p:nvSpPr>
        <p:spPr>
          <a:xfrm>
            <a:off x="10358280" y="4317120"/>
            <a:ext cx="150696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Calls to driver methods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3" name="Google Shape;463;p 1"/>
          <p:cNvSpPr/>
          <p:nvPr/>
        </p:nvSpPr>
        <p:spPr>
          <a:xfrm>
            <a:off x="180000" y="1800000"/>
            <a:ext cx="613944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🔝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Orchestrator Layer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Coordinates overall system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Decides which FSM to activate and when.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Handles high-level internal and external events.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🔁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State Machine Layer (FSM)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Manages module behaviour based on current state.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React to events, executes actions, changes states.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⚙️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Low-Level Driver Layer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Interfaces directly with hardware.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Performs device I/O and peripheral configuration.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74" name="Google Shape;285;p 22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375" name="Google Shape;286;p 22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76" name="Google Shape;287;p 22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462;p78"/>
          <p:cNvSpPr/>
          <p:nvPr/>
        </p:nvSpPr>
        <p:spPr>
          <a:xfrm>
            <a:off x="159840" y="11894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Layered Architecture of the Embedded System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8" name="Google Shape;464;p78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79" name="Google Shape;465;p78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0" name="Google Shape;466;p78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1" name="Google Shape;467;p78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2" name="Google Shape;468;p78"/>
          <p:cNvSpPr/>
          <p:nvPr/>
        </p:nvSpPr>
        <p:spPr>
          <a:xfrm>
            <a:off x="6660000" y="1905840"/>
            <a:ext cx="4448880" cy="666360"/>
          </a:xfrm>
          <a:prstGeom prst="rect">
            <a:avLst/>
          </a:prstGeom>
          <a:solidFill>
            <a:srgbClr val="ff8000"/>
          </a:solidFill>
          <a:ln w="3600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Task Manager (System Orchestrator)</a:t>
            </a: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3" name="Google Shape;469;p78"/>
          <p:cNvSpPr/>
          <p:nvPr/>
        </p:nvSpPr>
        <p:spPr>
          <a:xfrm>
            <a:off x="6660000" y="3586680"/>
            <a:ext cx="4448880" cy="66672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Finite State Machine (FSM)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4" name="Google Shape;470;p78"/>
          <p:cNvSpPr/>
          <p:nvPr/>
        </p:nvSpPr>
        <p:spPr>
          <a:xfrm>
            <a:off x="6660000" y="5267520"/>
            <a:ext cx="4448880" cy="66672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Low-Level Driver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85" name="Google Shape;471;p78"/>
          <p:cNvCxnSpPr/>
          <p:nvPr/>
        </p:nvCxnSpPr>
        <p:spPr>
          <a:xfrm>
            <a:off x="10190160" y="4259160"/>
            <a:ext cx="5760" cy="101448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386" name="Google Shape;472;p78"/>
          <p:cNvCxnSpPr/>
          <p:nvPr/>
        </p:nvCxnSpPr>
        <p:spPr>
          <a:xfrm>
            <a:off x="10190160" y="2569680"/>
            <a:ext cx="5760" cy="101448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387" name="Google Shape;473;p78"/>
          <p:cNvCxnSpPr/>
          <p:nvPr/>
        </p:nvCxnSpPr>
        <p:spPr>
          <a:xfrm flipV="1">
            <a:off x="7500600" y="4250520"/>
            <a:ext cx="5760" cy="101448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388" name="Google Shape;474;p78"/>
          <p:cNvCxnSpPr/>
          <p:nvPr/>
        </p:nvCxnSpPr>
        <p:spPr>
          <a:xfrm flipV="1">
            <a:off x="7500600" y="2577960"/>
            <a:ext cx="5760" cy="101448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389" name="Google Shape;475;p78"/>
          <p:cNvSpPr/>
          <p:nvPr/>
        </p:nvSpPr>
        <p:spPr>
          <a:xfrm>
            <a:off x="10358280" y="2746080"/>
            <a:ext cx="150696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Signals to FSM 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0" name="Google Shape;476;p78"/>
          <p:cNvSpPr/>
          <p:nvPr/>
        </p:nvSpPr>
        <p:spPr>
          <a:xfrm>
            <a:off x="10358280" y="4317120"/>
            <a:ext cx="150696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Calls to driver methods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1" name="Google Shape;477;p78"/>
          <p:cNvSpPr/>
          <p:nvPr/>
        </p:nvSpPr>
        <p:spPr>
          <a:xfrm>
            <a:off x="7560000" y="2628000"/>
            <a:ext cx="234756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Event reporting through message queues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2" name="Google Shape;478;p78"/>
          <p:cNvSpPr/>
          <p:nvPr/>
        </p:nvSpPr>
        <p:spPr>
          <a:xfrm>
            <a:off x="7584480" y="4477680"/>
            <a:ext cx="234756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Return status </a:t>
            </a:r>
            <a:br>
              <a:rPr sz="1800"/>
            </a:b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(OK / ERROR)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3" name="Google Shape;463;p 2"/>
          <p:cNvSpPr/>
          <p:nvPr/>
        </p:nvSpPr>
        <p:spPr>
          <a:xfrm>
            <a:off x="180000" y="1800000"/>
            <a:ext cx="613944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🔝 </a:t>
            </a:r>
            <a:r>
              <a:rPr b="1" lang="en-GB" sz="2000" strike="noStrike" u="none">
                <a:solidFill>
                  <a:srgbClr val="ffffff"/>
                </a:solidFill>
                <a:highlight>
                  <a:srgbClr val="ff8000"/>
                </a:highlight>
                <a:uFillTx/>
                <a:latin typeface="Arial"/>
                <a:ea typeface="Arial"/>
              </a:rPr>
              <a:t>Orchestrator Layer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Coordinates overall system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Decides which FSM to activate and when.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Handles high-level internal and external events.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🔁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State Machine Layer (FSM)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Manages module behaviour based on current state.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React to events, executes actions, changes states.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⚙️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Low-Level Driver Layer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Interfaces directly with hardware.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Performs device I/O and peripheral configuration.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94" name="Google Shape;285;p 23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395" name="Google Shape;286;p 23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96" name="Google Shape;287;p 23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486;p79"/>
          <p:cNvSpPr/>
          <p:nvPr/>
        </p:nvSpPr>
        <p:spPr>
          <a:xfrm>
            <a:off x="159840" y="11894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Layered Architecture of the Embedded System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8" name="Google Shape;488;p79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99" name="Google Shape;489;p79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0" name="Google Shape;490;p79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1" name="Google Shape;491;p79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2" name="Google Shape;492;p79"/>
          <p:cNvSpPr/>
          <p:nvPr/>
        </p:nvSpPr>
        <p:spPr>
          <a:xfrm>
            <a:off x="6660000" y="1905840"/>
            <a:ext cx="4448880" cy="66636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Task Manager (System Orchestrator)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3" name="Google Shape;493;p79"/>
          <p:cNvSpPr/>
          <p:nvPr/>
        </p:nvSpPr>
        <p:spPr>
          <a:xfrm>
            <a:off x="6660000" y="3586680"/>
            <a:ext cx="4448880" cy="666720"/>
          </a:xfrm>
          <a:prstGeom prst="rect">
            <a:avLst/>
          </a:prstGeom>
          <a:solidFill>
            <a:srgbClr val="ff8000"/>
          </a:solidFill>
          <a:ln w="3600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Finite State Machine (FSM)</a:t>
            </a: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4" name="Google Shape;494;p79"/>
          <p:cNvSpPr/>
          <p:nvPr/>
        </p:nvSpPr>
        <p:spPr>
          <a:xfrm>
            <a:off x="6660000" y="5267520"/>
            <a:ext cx="4448880" cy="66672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Low-Level Driver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05" name="Google Shape;495;p79"/>
          <p:cNvCxnSpPr/>
          <p:nvPr/>
        </p:nvCxnSpPr>
        <p:spPr>
          <a:xfrm>
            <a:off x="10190160" y="4259160"/>
            <a:ext cx="5760" cy="101448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06" name="Google Shape;496;p79"/>
          <p:cNvCxnSpPr/>
          <p:nvPr/>
        </p:nvCxnSpPr>
        <p:spPr>
          <a:xfrm>
            <a:off x="10190160" y="2569680"/>
            <a:ext cx="5760" cy="101448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07" name="Google Shape;497;p79"/>
          <p:cNvCxnSpPr/>
          <p:nvPr/>
        </p:nvCxnSpPr>
        <p:spPr>
          <a:xfrm flipV="1">
            <a:off x="7500600" y="4250520"/>
            <a:ext cx="5760" cy="101448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08" name="Google Shape;498;p79"/>
          <p:cNvCxnSpPr/>
          <p:nvPr/>
        </p:nvCxnSpPr>
        <p:spPr>
          <a:xfrm flipV="1">
            <a:off x="7500600" y="2577960"/>
            <a:ext cx="5760" cy="101448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409" name="Google Shape;499;p79"/>
          <p:cNvSpPr/>
          <p:nvPr/>
        </p:nvSpPr>
        <p:spPr>
          <a:xfrm>
            <a:off x="10358280" y="2746080"/>
            <a:ext cx="150696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Signals to FSM 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0" name="Google Shape;500;p79"/>
          <p:cNvSpPr/>
          <p:nvPr/>
        </p:nvSpPr>
        <p:spPr>
          <a:xfrm>
            <a:off x="7560000" y="2628000"/>
            <a:ext cx="234756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Event reporting through message queues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1" name="Google Shape;501;p79"/>
          <p:cNvSpPr/>
          <p:nvPr/>
        </p:nvSpPr>
        <p:spPr>
          <a:xfrm>
            <a:off x="7584480" y="4477680"/>
            <a:ext cx="234756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Return status </a:t>
            </a:r>
            <a:br>
              <a:rPr sz="1800"/>
            </a:b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(OK / ERROR)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2" name="Google Shape;505;p79"/>
          <p:cNvSpPr/>
          <p:nvPr/>
        </p:nvSpPr>
        <p:spPr>
          <a:xfrm>
            <a:off x="10358280" y="4317120"/>
            <a:ext cx="150696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Calls to driver methods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3" name="Google Shape;463;p 3"/>
          <p:cNvSpPr/>
          <p:nvPr/>
        </p:nvSpPr>
        <p:spPr>
          <a:xfrm>
            <a:off x="180000" y="1800000"/>
            <a:ext cx="613944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🔝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Orchestrator Layer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Coordinates overall system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Decides which FSM to activate and when.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Handles high-level internal and external events.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🔁 </a:t>
            </a:r>
            <a:r>
              <a:rPr b="1" lang="en-GB" sz="2000" strike="noStrike" u="none">
                <a:solidFill>
                  <a:srgbClr val="ffffff"/>
                </a:solidFill>
                <a:highlight>
                  <a:srgbClr val="ff8000"/>
                </a:highlight>
                <a:uFillTx/>
                <a:latin typeface="Arial"/>
                <a:ea typeface="Arial"/>
              </a:rPr>
              <a:t>State Machine Layer (FSM)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Manages module behaviour based on current state.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React to events, executes actions, changes states.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⚙️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Low-Level Driver Layer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Interfaces directly with hardware.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Performs device I/O and peripheral configuration.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14" name="Google Shape;285;p 24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415" name="Google Shape;286;p 24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16" name="Google Shape;287;p 24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510;p80"/>
          <p:cNvSpPr/>
          <p:nvPr/>
        </p:nvSpPr>
        <p:spPr>
          <a:xfrm>
            <a:off x="159840" y="11894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Layered Architecture of the Embedded System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8" name="Google Shape;512;p80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19" name="Google Shape;513;p80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0" name="Google Shape;514;p80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1" name="Google Shape;515;p80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2" name="Google Shape;516;p80"/>
          <p:cNvSpPr/>
          <p:nvPr/>
        </p:nvSpPr>
        <p:spPr>
          <a:xfrm>
            <a:off x="6660000" y="1905840"/>
            <a:ext cx="4448880" cy="66636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Task Manager (System Orchestrator)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3" name="Google Shape;517;p80"/>
          <p:cNvSpPr/>
          <p:nvPr/>
        </p:nvSpPr>
        <p:spPr>
          <a:xfrm>
            <a:off x="6660000" y="3586680"/>
            <a:ext cx="4448880" cy="666720"/>
          </a:xfrm>
          <a:prstGeom prst="rect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Finite State Machine (FSM)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4" name="Google Shape;518;p80"/>
          <p:cNvSpPr/>
          <p:nvPr/>
        </p:nvSpPr>
        <p:spPr>
          <a:xfrm>
            <a:off x="6660000" y="5267520"/>
            <a:ext cx="4448880" cy="666720"/>
          </a:xfrm>
          <a:prstGeom prst="rect">
            <a:avLst/>
          </a:prstGeom>
          <a:solidFill>
            <a:srgbClr val="ff8000"/>
          </a:solidFill>
          <a:ln w="36000">
            <a:solidFill>
              <a:srgbClr val="ff8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63000" bIns="63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Low-Level Driver</a:t>
            </a:r>
            <a:endParaRPr b="0" lang="es-E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cxnSp>
        <p:nvCxnSpPr>
          <p:cNvPr id="425" name="Google Shape;519;p80"/>
          <p:cNvCxnSpPr/>
          <p:nvPr/>
        </p:nvCxnSpPr>
        <p:spPr>
          <a:xfrm>
            <a:off x="10190160" y="4259160"/>
            <a:ext cx="5760" cy="101448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26" name="Google Shape;520;p80"/>
          <p:cNvCxnSpPr/>
          <p:nvPr/>
        </p:nvCxnSpPr>
        <p:spPr>
          <a:xfrm>
            <a:off x="10190160" y="2569680"/>
            <a:ext cx="5760" cy="101448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27" name="Google Shape;521;p80"/>
          <p:cNvCxnSpPr/>
          <p:nvPr/>
        </p:nvCxnSpPr>
        <p:spPr>
          <a:xfrm flipV="1">
            <a:off x="7500600" y="4250520"/>
            <a:ext cx="5760" cy="101448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28" name="Google Shape;522;p80"/>
          <p:cNvCxnSpPr/>
          <p:nvPr/>
        </p:nvCxnSpPr>
        <p:spPr>
          <a:xfrm flipV="1">
            <a:off x="7500600" y="2577960"/>
            <a:ext cx="5760" cy="1014480"/>
          </a:xfrm>
          <a:prstGeom prst="straightConnector1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429" name="Google Shape;523;p80"/>
          <p:cNvSpPr/>
          <p:nvPr/>
        </p:nvSpPr>
        <p:spPr>
          <a:xfrm>
            <a:off x="10358280" y="2746080"/>
            <a:ext cx="150696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Signals to FSM 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0" name="Google Shape;524;p80"/>
          <p:cNvSpPr/>
          <p:nvPr/>
        </p:nvSpPr>
        <p:spPr>
          <a:xfrm>
            <a:off x="7560000" y="2628000"/>
            <a:ext cx="234756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Event reporting through message queues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1" name="Google Shape;525;p80"/>
          <p:cNvSpPr/>
          <p:nvPr/>
        </p:nvSpPr>
        <p:spPr>
          <a:xfrm>
            <a:off x="7584480" y="4477680"/>
            <a:ext cx="2347560" cy="59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Return status </a:t>
            </a:r>
            <a:br>
              <a:rPr sz="1800"/>
            </a:b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(OK / ERROR)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2" name="Google Shape;529;p80"/>
          <p:cNvSpPr/>
          <p:nvPr/>
        </p:nvSpPr>
        <p:spPr>
          <a:xfrm>
            <a:off x="10358280" y="4317120"/>
            <a:ext cx="150696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Calls to driver methods</a:t>
            </a: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3" name="Google Shape;463;p 4"/>
          <p:cNvSpPr/>
          <p:nvPr/>
        </p:nvSpPr>
        <p:spPr>
          <a:xfrm>
            <a:off x="180000" y="1800000"/>
            <a:ext cx="613944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🔝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Orchestrator Layer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Coordinates overall system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Decides which FSM to activate and when.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Handles high-level internal and external events.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🔁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State Machine Layer (FSM)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Manages module behaviour based on current state.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React to events, executes actions, changes states.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⚙️ </a:t>
            </a:r>
            <a:r>
              <a:rPr b="1" lang="en-GB" sz="2000" strike="noStrike" u="none">
                <a:solidFill>
                  <a:srgbClr val="ffffff"/>
                </a:solidFill>
                <a:highlight>
                  <a:srgbClr val="ff8000"/>
                </a:highlight>
                <a:uFillTx/>
                <a:latin typeface="Arial"/>
                <a:ea typeface="Arial"/>
              </a:rPr>
              <a:t>Low-Level Driver Layer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Interfaces directly with hardware.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2a6099"/>
              </a:buClr>
              <a:buFont typeface="OpenSymbol"/>
              <a:buChar char="■"/>
              <a:tabLst>
                <a:tab algn="l" pos="0"/>
                <a:tab algn="l" pos="25200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	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Performs device I/O and peripheral configuration.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34" name="Google Shape;285;p 25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435" name="Google Shape;286;p 25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36" name="Google Shape;287;p 25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534;p81"/>
          <p:cNvSpPr/>
          <p:nvPr/>
        </p:nvSpPr>
        <p:spPr>
          <a:xfrm>
            <a:off x="159840" y="11894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State Machine Design Pattern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8" name="Google Shape;535;p81"/>
          <p:cNvSpPr/>
          <p:nvPr/>
        </p:nvSpPr>
        <p:spPr>
          <a:xfrm>
            <a:off x="190800" y="1816560"/>
            <a:ext cx="7759440" cy="48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This generic FSM pattern is used across multiple modules to manage their internal logic and execution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283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DISABLE: The module is inactive and resources are released.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INIT: Initializes hardware and internal variables.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TEST: Performs self-checks and verifies correct functionality.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ERROR: Captures faults and attempts recovery or shutdown.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IDLE: Waits for commands or events.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JOB: Executes the main task or acquisition.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Transitions are triggered by internal events or commands.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701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Each FSM has a scheduler, message_handler and update functions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9" name="Google Shape;536;p81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40" name="Google Shape;537;p81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1" name="Google Shape;538;p81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2" name="Google Shape;539;p81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3" name="Google Shape;540;p81"/>
          <p:cNvSpPr/>
          <p:nvPr/>
        </p:nvSpPr>
        <p:spPr>
          <a:xfrm>
            <a:off x="8353440" y="227628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4" name="Google Shape;541;p81"/>
          <p:cNvSpPr/>
          <p:nvPr/>
        </p:nvSpPr>
        <p:spPr>
          <a:xfrm>
            <a:off x="9633240" y="227664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5" name="Google Shape;542;p81"/>
          <p:cNvSpPr/>
          <p:nvPr/>
        </p:nvSpPr>
        <p:spPr>
          <a:xfrm>
            <a:off x="10808280" y="292932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6" name="Google Shape;543;p81"/>
          <p:cNvSpPr/>
          <p:nvPr/>
        </p:nvSpPr>
        <p:spPr>
          <a:xfrm>
            <a:off x="10808280" y="430056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7" name="Google Shape;544;p81"/>
          <p:cNvSpPr/>
          <p:nvPr/>
        </p:nvSpPr>
        <p:spPr>
          <a:xfrm>
            <a:off x="8363160" y="1800000"/>
            <a:ext cx="255600" cy="25524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360" bIns="90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448" name="Google Shape;545;p81"/>
          <p:cNvCxnSpPr>
            <a:stCxn id="447" idx="6"/>
            <a:endCxn id="443" idx="0"/>
          </p:cNvCxnSpPr>
          <p:nvPr/>
        </p:nvCxnSpPr>
        <p:spPr>
          <a:xfrm>
            <a:off x="8618760" y="1927800"/>
            <a:ext cx="254520" cy="3488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49" name="Google Shape;546;p81"/>
          <p:cNvCxnSpPr>
            <a:stCxn id="443" idx="6"/>
            <a:endCxn id="444" idx="2"/>
          </p:cNvCxnSpPr>
          <p:nvPr/>
        </p:nvCxnSpPr>
        <p:spPr>
          <a:xfrm>
            <a:off x="9392400" y="2795760"/>
            <a:ext cx="241200" cy="720"/>
          </a:xfrm>
          <a:prstGeom prst="curvedConnector3">
            <a:avLst>
              <a:gd name="adj1" fmla="val 5336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50" name="Google Shape;547;p81"/>
          <p:cNvCxnSpPr>
            <a:stCxn id="444" idx="6"/>
            <a:endCxn id="445" idx="0"/>
          </p:cNvCxnSpPr>
          <p:nvPr/>
        </p:nvCxnSpPr>
        <p:spPr>
          <a:xfrm>
            <a:off x="10672200" y="2796120"/>
            <a:ext cx="655920" cy="1335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51" name="Google Shape;548;p81"/>
          <p:cNvCxnSpPr>
            <a:stCxn id="445" idx="4"/>
            <a:endCxn id="446" idx="0"/>
          </p:cNvCxnSpPr>
          <p:nvPr/>
        </p:nvCxnSpPr>
        <p:spPr>
          <a:xfrm rot="16200000">
            <a:off x="11161800" y="4134240"/>
            <a:ext cx="332640" cy="3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452" name="Google Shape;549;p81"/>
          <p:cNvSpPr/>
          <p:nvPr/>
        </p:nvSpPr>
        <p:spPr>
          <a:xfrm>
            <a:off x="9268560" y="356760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3" name="Google Shape;550;p81"/>
          <p:cNvSpPr/>
          <p:nvPr/>
        </p:nvSpPr>
        <p:spPr>
          <a:xfrm>
            <a:off x="9541800" y="494028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54" name="Google Shape;551;p81"/>
          <p:cNvCxnSpPr>
            <a:stCxn id="446" idx="3"/>
            <a:endCxn id="453" idx="6"/>
          </p:cNvCxnSpPr>
          <p:nvPr/>
        </p:nvCxnSpPr>
        <p:spPr>
          <a:xfrm rot="5400000">
            <a:off x="10634400" y="5133960"/>
            <a:ext cx="272520" cy="3798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55" name="Google Shape;552;p81"/>
          <p:cNvCxnSpPr>
            <a:stCxn id="453" idx="7"/>
            <a:endCxn id="446" idx="2"/>
          </p:cNvCxnSpPr>
          <p:nvPr/>
        </p:nvCxnSpPr>
        <p:spPr>
          <a:xfrm flipH="1" flipV="1" rot="5400000">
            <a:off x="10482480" y="4766400"/>
            <a:ext cx="272520" cy="3798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56" name="Google Shape;553;p81"/>
          <p:cNvCxnSpPr>
            <a:stCxn id="445" idx="2"/>
            <a:endCxn id="452" idx="6"/>
          </p:cNvCxnSpPr>
          <p:nvPr/>
        </p:nvCxnSpPr>
        <p:spPr>
          <a:xfrm flipV="1" rot="10800000">
            <a:off x="10307160" y="3448440"/>
            <a:ext cx="501120" cy="638640"/>
          </a:xfrm>
          <a:prstGeom prst="curvedConnector3">
            <a:avLst>
              <a:gd name="adj1" fmla="val 4881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57" name="Google Shape;554;p81"/>
          <p:cNvCxnSpPr>
            <a:stCxn id="452" idx="2"/>
            <a:endCxn id="443" idx="4"/>
          </p:cNvCxnSpPr>
          <p:nvPr/>
        </p:nvCxnSpPr>
        <p:spPr>
          <a:xfrm rot="10800000">
            <a:off x="8872560" y="3315240"/>
            <a:ext cx="396000" cy="772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grpSp>
        <p:nvGrpSpPr>
          <p:cNvPr id="458" name="Google Shape;285;p 26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459" name="Google Shape;286;p 26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60" name="Google Shape;287;p 26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562;p82"/>
          <p:cNvSpPr/>
          <p:nvPr/>
        </p:nvSpPr>
        <p:spPr>
          <a:xfrm>
            <a:off x="159840" y="11894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State Machine Design Pattern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2" name="Google Shape;563;p82"/>
          <p:cNvSpPr/>
          <p:nvPr/>
        </p:nvSpPr>
        <p:spPr>
          <a:xfrm>
            <a:off x="190800" y="1816560"/>
            <a:ext cx="7759440" cy="48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This generic FSM pattern is used across multiple modules to manage their internal logic and execution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283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000" strike="noStrike" u="none">
                <a:solidFill>
                  <a:srgbClr val="000000"/>
                </a:solidFill>
                <a:highlight>
                  <a:srgbClr val="77bc65"/>
                </a:highlight>
                <a:uFillTx/>
                <a:latin typeface="Arial"/>
                <a:ea typeface="Arial"/>
              </a:rPr>
              <a:t>DISABLE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: The module is inactive and resources are released.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INIT: Initializes hardware and internal variables.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TEST: Performs self-checks and verifies correct functionality.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ERROR: Captures faults and attempts recovery or shutdown.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IDLE: Waits for commands or events.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JOB: Executes the main task or acquisition.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Transitions are triggered by internal events or commands.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701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Each FSM has a scheduler, message_handler and update functions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3" name="Google Shape;564;p82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64" name="Google Shape;565;p82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5" name="Google Shape;566;p82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6" name="Google Shape;567;p82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7" name="Google Shape;568;p82"/>
          <p:cNvSpPr/>
          <p:nvPr/>
        </p:nvSpPr>
        <p:spPr>
          <a:xfrm>
            <a:off x="8353440" y="2276280"/>
            <a:ext cx="1038960" cy="1038960"/>
          </a:xfrm>
          <a:prstGeom prst="ellipse">
            <a:avLst/>
          </a:prstGeom>
          <a:solidFill>
            <a:srgbClr val="77bc65"/>
          </a:solidFill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8" name="Google Shape;569;p82"/>
          <p:cNvSpPr/>
          <p:nvPr/>
        </p:nvSpPr>
        <p:spPr>
          <a:xfrm>
            <a:off x="9633240" y="227664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9" name="Google Shape;570;p82"/>
          <p:cNvSpPr/>
          <p:nvPr/>
        </p:nvSpPr>
        <p:spPr>
          <a:xfrm>
            <a:off x="10808280" y="292932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0" name="Google Shape;571;p82"/>
          <p:cNvSpPr/>
          <p:nvPr/>
        </p:nvSpPr>
        <p:spPr>
          <a:xfrm>
            <a:off x="10808280" y="430056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1" name="Google Shape;572;p82"/>
          <p:cNvSpPr/>
          <p:nvPr/>
        </p:nvSpPr>
        <p:spPr>
          <a:xfrm>
            <a:off x="8363160" y="1800000"/>
            <a:ext cx="255600" cy="25524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360" bIns="90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472" name="Google Shape;573;p82"/>
          <p:cNvCxnSpPr>
            <a:stCxn id="471" idx="6"/>
            <a:endCxn id="467" idx="0"/>
          </p:cNvCxnSpPr>
          <p:nvPr/>
        </p:nvCxnSpPr>
        <p:spPr>
          <a:xfrm>
            <a:off x="8618760" y="1927800"/>
            <a:ext cx="254520" cy="3488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73" name="Google Shape;574;p82"/>
          <p:cNvCxnSpPr>
            <a:stCxn id="467" idx="6"/>
            <a:endCxn id="468" idx="2"/>
          </p:cNvCxnSpPr>
          <p:nvPr/>
        </p:nvCxnSpPr>
        <p:spPr>
          <a:xfrm>
            <a:off x="9392400" y="2795760"/>
            <a:ext cx="241200" cy="720"/>
          </a:xfrm>
          <a:prstGeom prst="curvedConnector3">
            <a:avLst>
              <a:gd name="adj1" fmla="val 5336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74" name="Google Shape;575;p82"/>
          <p:cNvCxnSpPr>
            <a:stCxn id="468" idx="6"/>
            <a:endCxn id="469" idx="0"/>
          </p:cNvCxnSpPr>
          <p:nvPr/>
        </p:nvCxnSpPr>
        <p:spPr>
          <a:xfrm>
            <a:off x="10672200" y="2796120"/>
            <a:ext cx="655920" cy="1335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75" name="Google Shape;576;p82"/>
          <p:cNvCxnSpPr>
            <a:stCxn id="469" idx="4"/>
            <a:endCxn id="470" idx="0"/>
          </p:cNvCxnSpPr>
          <p:nvPr/>
        </p:nvCxnSpPr>
        <p:spPr>
          <a:xfrm rot="16200000">
            <a:off x="11161800" y="4134240"/>
            <a:ext cx="332640" cy="3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476" name="Google Shape;577;p82"/>
          <p:cNvSpPr/>
          <p:nvPr/>
        </p:nvSpPr>
        <p:spPr>
          <a:xfrm>
            <a:off x="9268560" y="356760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7" name="Google Shape;578;p82"/>
          <p:cNvSpPr/>
          <p:nvPr/>
        </p:nvSpPr>
        <p:spPr>
          <a:xfrm>
            <a:off x="9541800" y="494028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478" name="Google Shape;579;p82"/>
          <p:cNvCxnSpPr>
            <a:stCxn id="470" idx="3"/>
            <a:endCxn id="477" idx="6"/>
          </p:cNvCxnSpPr>
          <p:nvPr/>
        </p:nvCxnSpPr>
        <p:spPr>
          <a:xfrm rot="5400000">
            <a:off x="10634400" y="5133960"/>
            <a:ext cx="272520" cy="3798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79" name="Google Shape;580;p82"/>
          <p:cNvCxnSpPr>
            <a:stCxn id="477" idx="7"/>
            <a:endCxn id="470" idx="2"/>
          </p:cNvCxnSpPr>
          <p:nvPr/>
        </p:nvCxnSpPr>
        <p:spPr>
          <a:xfrm flipH="1" flipV="1" rot="5400000">
            <a:off x="10482480" y="4766400"/>
            <a:ext cx="272520" cy="3798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80" name="Google Shape;581;p82"/>
          <p:cNvCxnSpPr>
            <a:stCxn id="469" idx="2"/>
            <a:endCxn id="476" idx="6"/>
          </p:cNvCxnSpPr>
          <p:nvPr/>
        </p:nvCxnSpPr>
        <p:spPr>
          <a:xfrm flipV="1" rot="10800000">
            <a:off x="10307160" y="3448440"/>
            <a:ext cx="501120" cy="638640"/>
          </a:xfrm>
          <a:prstGeom prst="curvedConnector3">
            <a:avLst>
              <a:gd name="adj1" fmla="val 4881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81" name="Google Shape;582;p82"/>
          <p:cNvCxnSpPr>
            <a:stCxn id="476" idx="2"/>
            <a:endCxn id="467" idx="4"/>
          </p:cNvCxnSpPr>
          <p:nvPr/>
        </p:nvCxnSpPr>
        <p:spPr>
          <a:xfrm rot="10800000">
            <a:off x="8872560" y="3315240"/>
            <a:ext cx="396000" cy="772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grpSp>
        <p:nvGrpSpPr>
          <p:cNvPr id="482" name="Google Shape;285;p 27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483" name="Google Shape;286;p 27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84" name="Google Shape;287;p 27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590;p83"/>
          <p:cNvSpPr/>
          <p:nvPr/>
        </p:nvSpPr>
        <p:spPr>
          <a:xfrm>
            <a:off x="159840" y="11894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State Machine Design Pattern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6" name="Google Shape;591;p83"/>
          <p:cNvSpPr/>
          <p:nvPr/>
        </p:nvSpPr>
        <p:spPr>
          <a:xfrm>
            <a:off x="190800" y="1816560"/>
            <a:ext cx="7759440" cy="48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This generic FSM pattern is used across multiple modules to manage their internal logic and execution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283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DISABLE: The module is inactive and resources are released.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000" strike="noStrike" u="none">
                <a:solidFill>
                  <a:srgbClr val="000000"/>
                </a:solidFill>
                <a:highlight>
                  <a:srgbClr val="77bc65"/>
                </a:highlight>
                <a:uFillTx/>
                <a:latin typeface="Arial"/>
                <a:ea typeface="Arial"/>
              </a:rPr>
              <a:t>INIT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: Initializes hardware and internal variables.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TEST: Performs self-checks and verifies correct functionality.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ERROR: Captures faults and attempts recovery or shutdown.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IDLE: Waits for commands or events.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JOB: Executes the main task or acquisition.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Transitions are triggered by internal events or commands.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701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Each FSM has a scheduler, message_handler and update functions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7" name="Google Shape;592;p83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88" name="Google Shape;593;p83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9" name="Google Shape;594;p83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0" name="Google Shape;595;p83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1" name="Google Shape;596;p83"/>
          <p:cNvSpPr/>
          <p:nvPr/>
        </p:nvSpPr>
        <p:spPr>
          <a:xfrm>
            <a:off x="8353440" y="227628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2" name="Google Shape;597;p83"/>
          <p:cNvSpPr/>
          <p:nvPr/>
        </p:nvSpPr>
        <p:spPr>
          <a:xfrm>
            <a:off x="9633240" y="2276640"/>
            <a:ext cx="1038960" cy="1038960"/>
          </a:xfrm>
          <a:prstGeom prst="ellipse">
            <a:avLst/>
          </a:prstGeom>
          <a:solidFill>
            <a:srgbClr val="77bc65"/>
          </a:solidFill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3" name="Google Shape;598;p83"/>
          <p:cNvSpPr/>
          <p:nvPr/>
        </p:nvSpPr>
        <p:spPr>
          <a:xfrm>
            <a:off x="10808280" y="292932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4" name="Google Shape;599;p83"/>
          <p:cNvSpPr/>
          <p:nvPr/>
        </p:nvSpPr>
        <p:spPr>
          <a:xfrm>
            <a:off x="10808280" y="430056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5" name="Google Shape;600;p83"/>
          <p:cNvSpPr/>
          <p:nvPr/>
        </p:nvSpPr>
        <p:spPr>
          <a:xfrm>
            <a:off x="8363160" y="1800000"/>
            <a:ext cx="255600" cy="25524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360" bIns="90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496" name="Google Shape;601;p83"/>
          <p:cNvCxnSpPr>
            <a:stCxn id="495" idx="6"/>
            <a:endCxn id="491" idx="0"/>
          </p:cNvCxnSpPr>
          <p:nvPr/>
        </p:nvCxnSpPr>
        <p:spPr>
          <a:xfrm>
            <a:off x="8618760" y="1927800"/>
            <a:ext cx="254520" cy="3488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97" name="Google Shape;602;p83"/>
          <p:cNvCxnSpPr>
            <a:stCxn id="491" idx="6"/>
            <a:endCxn id="492" idx="2"/>
          </p:cNvCxnSpPr>
          <p:nvPr/>
        </p:nvCxnSpPr>
        <p:spPr>
          <a:xfrm>
            <a:off x="9392400" y="2795760"/>
            <a:ext cx="241200" cy="720"/>
          </a:xfrm>
          <a:prstGeom prst="curvedConnector3">
            <a:avLst>
              <a:gd name="adj1" fmla="val 5336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98" name="Google Shape;603;p83"/>
          <p:cNvCxnSpPr>
            <a:stCxn id="492" idx="6"/>
            <a:endCxn id="493" idx="0"/>
          </p:cNvCxnSpPr>
          <p:nvPr/>
        </p:nvCxnSpPr>
        <p:spPr>
          <a:xfrm>
            <a:off x="10672200" y="2796120"/>
            <a:ext cx="655920" cy="1335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499" name="Google Shape;604;p83"/>
          <p:cNvCxnSpPr>
            <a:stCxn id="493" idx="4"/>
            <a:endCxn id="494" idx="0"/>
          </p:cNvCxnSpPr>
          <p:nvPr/>
        </p:nvCxnSpPr>
        <p:spPr>
          <a:xfrm rot="16200000">
            <a:off x="11161800" y="4134240"/>
            <a:ext cx="332640" cy="3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500" name="Google Shape;605;p83"/>
          <p:cNvSpPr/>
          <p:nvPr/>
        </p:nvSpPr>
        <p:spPr>
          <a:xfrm>
            <a:off x="9268560" y="356760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1" name="Google Shape;606;p83"/>
          <p:cNvSpPr/>
          <p:nvPr/>
        </p:nvSpPr>
        <p:spPr>
          <a:xfrm>
            <a:off x="9541800" y="494028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02" name="Google Shape;607;p83"/>
          <p:cNvCxnSpPr>
            <a:stCxn id="494" idx="3"/>
            <a:endCxn id="501" idx="6"/>
          </p:cNvCxnSpPr>
          <p:nvPr/>
        </p:nvCxnSpPr>
        <p:spPr>
          <a:xfrm rot="5400000">
            <a:off x="10634400" y="5133960"/>
            <a:ext cx="272520" cy="3798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03" name="Google Shape;608;p83"/>
          <p:cNvCxnSpPr>
            <a:stCxn id="501" idx="7"/>
            <a:endCxn id="494" idx="2"/>
          </p:cNvCxnSpPr>
          <p:nvPr/>
        </p:nvCxnSpPr>
        <p:spPr>
          <a:xfrm flipH="1" flipV="1" rot="5400000">
            <a:off x="10482480" y="4766400"/>
            <a:ext cx="272520" cy="3798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04" name="Google Shape;609;p83"/>
          <p:cNvCxnSpPr>
            <a:stCxn id="493" idx="2"/>
            <a:endCxn id="500" idx="6"/>
          </p:cNvCxnSpPr>
          <p:nvPr/>
        </p:nvCxnSpPr>
        <p:spPr>
          <a:xfrm flipV="1" rot="10800000">
            <a:off x="10307160" y="3448440"/>
            <a:ext cx="501120" cy="638640"/>
          </a:xfrm>
          <a:prstGeom prst="curvedConnector3">
            <a:avLst>
              <a:gd name="adj1" fmla="val 4881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05" name="Google Shape;610;p83"/>
          <p:cNvCxnSpPr>
            <a:stCxn id="500" idx="2"/>
            <a:endCxn id="491" idx="4"/>
          </p:cNvCxnSpPr>
          <p:nvPr/>
        </p:nvCxnSpPr>
        <p:spPr>
          <a:xfrm rot="10800000">
            <a:off x="8872560" y="3315240"/>
            <a:ext cx="396000" cy="772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grpSp>
        <p:nvGrpSpPr>
          <p:cNvPr id="506" name="Google Shape;285;p 28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507" name="Google Shape;286;p 28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08" name="Google Shape;287;p 28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618;p84"/>
          <p:cNvSpPr/>
          <p:nvPr/>
        </p:nvSpPr>
        <p:spPr>
          <a:xfrm>
            <a:off x="159840" y="11894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State Machine Design Pattern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0" name="Google Shape;619;p84"/>
          <p:cNvSpPr/>
          <p:nvPr/>
        </p:nvSpPr>
        <p:spPr>
          <a:xfrm>
            <a:off x="190800" y="1816560"/>
            <a:ext cx="7759440" cy="48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This generic FSM pattern is used across multiple modules to manage their internal logic and execution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283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DISABLE: The module is inactive and resources are released.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INIT: Initializes hardware and internal variables.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000" strike="noStrike" u="none">
                <a:solidFill>
                  <a:srgbClr val="000000"/>
                </a:solidFill>
                <a:highlight>
                  <a:srgbClr val="77bc65"/>
                </a:highlight>
                <a:uFillTx/>
                <a:latin typeface="Arial"/>
                <a:ea typeface="Arial"/>
              </a:rPr>
              <a:t>TEST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: Performs self-checks and verifies correct functionality.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ERROR: Captures faults and attempts recovery or shutdown.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IDLE: Waits for commands or events.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JOB: Executes the main task or acquisition.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Transitions are triggered by internal events or commands.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701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Each FSM has a scheduler, message_handler and update functions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1" name="Google Shape;620;p84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512" name="Google Shape;621;p84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3" name="Google Shape;622;p84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4" name="Google Shape;623;p84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5" name="Google Shape;624;p84"/>
          <p:cNvSpPr/>
          <p:nvPr/>
        </p:nvSpPr>
        <p:spPr>
          <a:xfrm>
            <a:off x="8353440" y="227628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6" name="Google Shape;625;p84"/>
          <p:cNvSpPr/>
          <p:nvPr/>
        </p:nvSpPr>
        <p:spPr>
          <a:xfrm>
            <a:off x="9633240" y="227664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7" name="Google Shape;626;p84"/>
          <p:cNvSpPr/>
          <p:nvPr/>
        </p:nvSpPr>
        <p:spPr>
          <a:xfrm>
            <a:off x="10808280" y="2929320"/>
            <a:ext cx="1038960" cy="1038960"/>
          </a:xfrm>
          <a:prstGeom prst="ellipse">
            <a:avLst/>
          </a:prstGeom>
          <a:solidFill>
            <a:srgbClr val="77bc65"/>
          </a:solidFill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8" name="Google Shape;627;p84"/>
          <p:cNvSpPr/>
          <p:nvPr/>
        </p:nvSpPr>
        <p:spPr>
          <a:xfrm>
            <a:off x="10808280" y="430056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9" name="Google Shape;628;p84"/>
          <p:cNvSpPr/>
          <p:nvPr/>
        </p:nvSpPr>
        <p:spPr>
          <a:xfrm>
            <a:off x="8363160" y="1800000"/>
            <a:ext cx="255600" cy="25524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360" bIns="90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520" name="Google Shape;629;p84"/>
          <p:cNvCxnSpPr>
            <a:stCxn id="519" idx="6"/>
            <a:endCxn id="515" idx="0"/>
          </p:cNvCxnSpPr>
          <p:nvPr/>
        </p:nvCxnSpPr>
        <p:spPr>
          <a:xfrm>
            <a:off x="8618760" y="1927800"/>
            <a:ext cx="254520" cy="3488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21" name="Google Shape;630;p84"/>
          <p:cNvCxnSpPr>
            <a:stCxn id="515" idx="6"/>
            <a:endCxn id="516" idx="2"/>
          </p:cNvCxnSpPr>
          <p:nvPr/>
        </p:nvCxnSpPr>
        <p:spPr>
          <a:xfrm>
            <a:off x="9392400" y="2795760"/>
            <a:ext cx="241200" cy="720"/>
          </a:xfrm>
          <a:prstGeom prst="curvedConnector3">
            <a:avLst>
              <a:gd name="adj1" fmla="val 5336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22" name="Google Shape;631;p84"/>
          <p:cNvCxnSpPr>
            <a:stCxn id="516" idx="6"/>
            <a:endCxn id="517" idx="0"/>
          </p:cNvCxnSpPr>
          <p:nvPr/>
        </p:nvCxnSpPr>
        <p:spPr>
          <a:xfrm>
            <a:off x="10672200" y="2796120"/>
            <a:ext cx="655920" cy="1335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23" name="Google Shape;632;p84"/>
          <p:cNvCxnSpPr>
            <a:stCxn id="517" idx="4"/>
            <a:endCxn id="518" idx="0"/>
          </p:cNvCxnSpPr>
          <p:nvPr/>
        </p:nvCxnSpPr>
        <p:spPr>
          <a:xfrm rot="16200000">
            <a:off x="11161800" y="4134240"/>
            <a:ext cx="332640" cy="3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524" name="Google Shape;633;p84"/>
          <p:cNvSpPr/>
          <p:nvPr/>
        </p:nvSpPr>
        <p:spPr>
          <a:xfrm>
            <a:off x="9268560" y="356760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5" name="Google Shape;634;p84"/>
          <p:cNvSpPr/>
          <p:nvPr/>
        </p:nvSpPr>
        <p:spPr>
          <a:xfrm>
            <a:off x="9541800" y="494028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26" name="Google Shape;635;p84"/>
          <p:cNvCxnSpPr>
            <a:stCxn id="518" idx="3"/>
            <a:endCxn id="525" idx="6"/>
          </p:cNvCxnSpPr>
          <p:nvPr/>
        </p:nvCxnSpPr>
        <p:spPr>
          <a:xfrm rot="5400000">
            <a:off x="10634400" y="5133960"/>
            <a:ext cx="272520" cy="3798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27" name="Google Shape;636;p84"/>
          <p:cNvCxnSpPr>
            <a:stCxn id="525" idx="7"/>
            <a:endCxn id="518" idx="2"/>
          </p:cNvCxnSpPr>
          <p:nvPr/>
        </p:nvCxnSpPr>
        <p:spPr>
          <a:xfrm flipH="1" flipV="1" rot="5400000">
            <a:off x="10482480" y="4766400"/>
            <a:ext cx="272520" cy="3798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28" name="Google Shape;637;p84"/>
          <p:cNvCxnSpPr>
            <a:stCxn id="517" idx="2"/>
            <a:endCxn id="524" idx="6"/>
          </p:cNvCxnSpPr>
          <p:nvPr/>
        </p:nvCxnSpPr>
        <p:spPr>
          <a:xfrm flipV="1" rot="10800000">
            <a:off x="10307160" y="3448440"/>
            <a:ext cx="501120" cy="638640"/>
          </a:xfrm>
          <a:prstGeom prst="curvedConnector3">
            <a:avLst>
              <a:gd name="adj1" fmla="val 4881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29" name="Google Shape;638;p84"/>
          <p:cNvCxnSpPr>
            <a:stCxn id="524" idx="2"/>
            <a:endCxn id="515" idx="4"/>
          </p:cNvCxnSpPr>
          <p:nvPr/>
        </p:nvCxnSpPr>
        <p:spPr>
          <a:xfrm rot="10800000">
            <a:off x="8872560" y="3315240"/>
            <a:ext cx="396000" cy="772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grpSp>
        <p:nvGrpSpPr>
          <p:cNvPr id="530" name="Google Shape;285;p 29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531" name="Google Shape;286;p 29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32" name="Google Shape;287;p 29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646;p85"/>
          <p:cNvSpPr/>
          <p:nvPr/>
        </p:nvSpPr>
        <p:spPr>
          <a:xfrm>
            <a:off x="159840" y="11894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State Machine Design Pattern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4" name="Google Shape;647;p85"/>
          <p:cNvSpPr/>
          <p:nvPr/>
        </p:nvSpPr>
        <p:spPr>
          <a:xfrm>
            <a:off x="190800" y="1816560"/>
            <a:ext cx="7759440" cy="48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This generic FSM pattern is used across multiple modules to manage their internal logic and execution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283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DISABLE: The module is inactive and resources are released.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INIT: Initializes hardware and internal variables.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TEST: Performs self-checks and verifies correct functionality.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000" strike="noStrike" u="none">
                <a:solidFill>
                  <a:srgbClr val="000000"/>
                </a:solidFill>
                <a:highlight>
                  <a:srgbClr val="77bc65"/>
                </a:highlight>
                <a:uFillTx/>
                <a:latin typeface="Arial"/>
                <a:ea typeface="Arial"/>
              </a:rPr>
              <a:t>ERROR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: Captures faults and attempts recovery or shutdown.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IDLE: Waits for commands or events.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JOB: Executes the main task or acquisition.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Transitions are triggered by internal events or commands.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701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Each FSM has a scheduler, message_handler and update functions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5" name="Google Shape;648;p85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536" name="Google Shape;649;p85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7" name="Google Shape;650;p85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8" name="Google Shape;651;p85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9" name="Google Shape;652;p85"/>
          <p:cNvSpPr/>
          <p:nvPr/>
        </p:nvSpPr>
        <p:spPr>
          <a:xfrm>
            <a:off x="8353440" y="227628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0" name="Google Shape;653;p85"/>
          <p:cNvSpPr/>
          <p:nvPr/>
        </p:nvSpPr>
        <p:spPr>
          <a:xfrm>
            <a:off x="9633240" y="227664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1" name="Google Shape;654;p85"/>
          <p:cNvSpPr/>
          <p:nvPr/>
        </p:nvSpPr>
        <p:spPr>
          <a:xfrm>
            <a:off x="10808280" y="292932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2" name="Google Shape;655;p85"/>
          <p:cNvSpPr/>
          <p:nvPr/>
        </p:nvSpPr>
        <p:spPr>
          <a:xfrm>
            <a:off x="10808280" y="430056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3" name="Google Shape;656;p85"/>
          <p:cNvSpPr/>
          <p:nvPr/>
        </p:nvSpPr>
        <p:spPr>
          <a:xfrm>
            <a:off x="8363160" y="1800000"/>
            <a:ext cx="255600" cy="25524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360" bIns="90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544" name="Google Shape;657;p85"/>
          <p:cNvCxnSpPr>
            <a:stCxn id="543" idx="6"/>
            <a:endCxn id="539" idx="0"/>
          </p:cNvCxnSpPr>
          <p:nvPr/>
        </p:nvCxnSpPr>
        <p:spPr>
          <a:xfrm>
            <a:off x="8618760" y="1927800"/>
            <a:ext cx="254520" cy="3488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45" name="Google Shape;658;p85"/>
          <p:cNvCxnSpPr>
            <a:stCxn id="539" idx="6"/>
            <a:endCxn id="540" idx="2"/>
          </p:cNvCxnSpPr>
          <p:nvPr/>
        </p:nvCxnSpPr>
        <p:spPr>
          <a:xfrm>
            <a:off x="9392400" y="2795760"/>
            <a:ext cx="241200" cy="720"/>
          </a:xfrm>
          <a:prstGeom prst="curvedConnector3">
            <a:avLst>
              <a:gd name="adj1" fmla="val 5336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46" name="Google Shape;659;p85"/>
          <p:cNvCxnSpPr>
            <a:stCxn id="540" idx="6"/>
            <a:endCxn id="541" idx="0"/>
          </p:cNvCxnSpPr>
          <p:nvPr/>
        </p:nvCxnSpPr>
        <p:spPr>
          <a:xfrm>
            <a:off x="10672200" y="2796120"/>
            <a:ext cx="655920" cy="1335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47" name="Google Shape;660;p85"/>
          <p:cNvCxnSpPr>
            <a:stCxn id="541" idx="4"/>
            <a:endCxn id="542" idx="0"/>
          </p:cNvCxnSpPr>
          <p:nvPr/>
        </p:nvCxnSpPr>
        <p:spPr>
          <a:xfrm rot="16200000">
            <a:off x="11161800" y="4134240"/>
            <a:ext cx="332640" cy="3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548" name="Google Shape;661;p85"/>
          <p:cNvSpPr/>
          <p:nvPr/>
        </p:nvSpPr>
        <p:spPr>
          <a:xfrm>
            <a:off x="9268560" y="3567600"/>
            <a:ext cx="1038960" cy="1038960"/>
          </a:xfrm>
          <a:prstGeom prst="ellipse">
            <a:avLst/>
          </a:prstGeom>
          <a:solidFill>
            <a:srgbClr val="77bc65"/>
          </a:solidFill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9" name="Google Shape;662;p85"/>
          <p:cNvSpPr/>
          <p:nvPr/>
        </p:nvSpPr>
        <p:spPr>
          <a:xfrm>
            <a:off x="9541800" y="494028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50" name="Google Shape;663;p85"/>
          <p:cNvCxnSpPr>
            <a:stCxn id="542" idx="3"/>
            <a:endCxn id="549" idx="6"/>
          </p:cNvCxnSpPr>
          <p:nvPr/>
        </p:nvCxnSpPr>
        <p:spPr>
          <a:xfrm rot="5400000">
            <a:off x="10634400" y="5133960"/>
            <a:ext cx="272520" cy="3798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51" name="Google Shape;664;p85"/>
          <p:cNvCxnSpPr>
            <a:stCxn id="549" idx="7"/>
            <a:endCxn id="542" idx="2"/>
          </p:cNvCxnSpPr>
          <p:nvPr/>
        </p:nvCxnSpPr>
        <p:spPr>
          <a:xfrm flipH="1" flipV="1" rot="5400000">
            <a:off x="10482480" y="4766400"/>
            <a:ext cx="272520" cy="3798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52" name="Google Shape;665;p85"/>
          <p:cNvCxnSpPr>
            <a:stCxn id="541" idx="2"/>
            <a:endCxn id="548" idx="6"/>
          </p:cNvCxnSpPr>
          <p:nvPr/>
        </p:nvCxnSpPr>
        <p:spPr>
          <a:xfrm flipV="1" rot="10800000">
            <a:off x="10307160" y="3448440"/>
            <a:ext cx="501120" cy="638640"/>
          </a:xfrm>
          <a:prstGeom prst="curvedConnector3">
            <a:avLst>
              <a:gd name="adj1" fmla="val 4881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53" name="Google Shape;666;p85"/>
          <p:cNvCxnSpPr>
            <a:stCxn id="548" idx="2"/>
            <a:endCxn id="539" idx="4"/>
          </p:cNvCxnSpPr>
          <p:nvPr/>
        </p:nvCxnSpPr>
        <p:spPr>
          <a:xfrm rot="10800000">
            <a:off x="8872560" y="3315240"/>
            <a:ext cx="396000" cy="772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grpSp>
        <p:nvGrpSpPr>
          <p:cNvPr id="554" name="Google Shape;285;p 30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555" name="Google Shape;286;p 30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56" name="Google Shape;287;p 30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674;p86"/>
          <p:cNvSpPr/>
          <p:nvPr/>
        </p:nvSpPr>
        <p:spPr>
          <a:xfrm>
            <a:off x="159840" y="11894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State Machine Design Pattern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8" name="Google Shape;675;p86"/>
          <p:cNvSpPr/>
          <p:nvPr/>
        </p:nvSpPr>
        <p:spPr>
          <a:xfrm>
            <a:off x="190800" y="1816560"/>
            <a:ext cx="7759440" cy="48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This generic FSM pattern is used across multiple modules to manage their internal logic and execution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283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DISABLE: The module is inactive and resources are released.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INIT: Initializes hardware and internal variables.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TEST: Performs self-checks and verifies correct functionality.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ERROR: Captures faults and attempts recovery or shutdown.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000" strike="noStrike" u="none">
                <a:solidFill>
                  <a:srgbClr val="000000"/>
                </a:solidFill>
                <a:highlight>
                  <a:srgbClr val="77bc65"/>
                </a:highlight>
                <a:uFillTx/>
                <a:latin typeface="Arial"/>
                <a:ea typeface="Arial"/>
              </a:rPr>
              <a:t>IDLE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: Waits for commands or events.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JOB: Executes the main task or acquisition.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Transitions are triggered by internal events or commands.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701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Each FSM has a scheduler, message_handler and update functions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9" name="Google Shape;676;p86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560" name="Google Shape;677;p86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1" name="Google Shape;678;p86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2" name="Google Shape;679;p86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3" name="Google Shape;680;p86"/>
          <p:cNvSpPr/>
          <p:nvPr/>
        </p:nvSpPr>
        <p:spPr>
          <a:xfrm>
            <a:off x="8353440" y="227628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4" name="Google Shape;681;p86"/>
          <p:cNvSpPr/>
          <p:nvPr/>
        </p:nvSpPr>
        <p:spPr>
          <a:xfrm>
            <a:off x="9633240" y="227664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5" name="Google Shape;682;p86"/>
          <p:cNvSpPr/>
          <p:nvPr/>
        </p:nvSpPr>
        <p:spPr>
          <a:xfrm>
            <a:off x="10808280" y="292932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6" name="Google Shape;683;p86"/>
          <p:cNvSpPr/>
          <p:nvPr/>
        </p:nvSpPr>
        <p:spPr>
          <a:xfrm>
            <a:off x="10808280" y="4300560"/>
            <a:ext cx="1038960" cy="1038960"/>
          </a:xfrm>
          <a:prstGeom prst="ellipse">
            <a:avLst/>
          </a:prstGeom>
          <a:solidFill>
            <a:srgbClr val="77bc65"/>
          </a:solidFill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7" name="Google Shape;684;p86"/>
          <p:cNvSpPr/>
          <p:nvPr/>
        </p:nvSpPr>
        <p:spPr>
          <a:xfrm>
            <a:off x="8363160" y="1800000"/>
            <a:ext cx="255600" cy="25524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360" bIns="90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568" name="Google Shape;685;p86"/>
          <p:cNvCxnSpPr>
            <a:stCxn id="567" idx="6"/>
            <a:endCxn id="563" idx="0"/>
          </p:cNvCxnSpPr>
          <p:nvPr/>
        </p:nvCxnSpPr>
        <p:spPr>
          <a:xfrm>
            <a:off x="8618760" y="1927800"/>
            <a:ext cx="254520" cy="3488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69" name="Google Shape;686;p86"/>
          <p:cNvCxnSpPr>
            <a:stCxn id="563" idx="6"/>
            <a:endCxn id="564" idx="2"/>
          </p:cNvCxnSpPr>
          <p:nvPr/>
        </p:nvCxnSpPr>
        <p:spPr>
          <a:xfrm>
            <a:off x="9392400" y="2795760"/>
            <a:ext cx="241200" cy="720"/>
          </a:xfrm>
          <a:prstGeom prst="curvedConnector3">
            <a:avLst>
              <a:gd name="adj1" fmla="val 5336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70" name="Google Shape;687;p86"/>
          <p:cNvCxnSpPr>
            <a:stCxn id="564" idx="6"/>
            <a:endCxn id="565" idx="0"/>
          </p:cNvCxnSpPr>
          <p:nvPr/>
        </p:nvCxnSpPr>
        <p:spPr>
          <a:xfrm>
            <a:off x="10672200" y="2796120"/>
            <a:ext cx="655920" cy="1335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71" name="Google Shape;688;p86"/>
          <p:cNvCxnSpPr>
            <a:stCxn id="565" idx="4"/>
            <a:endCxn id="566" idx="0"/>
          </p:cNvCxnSpPr>
          <p:nvPr/>
        </p:nvCxnSpPr>
        <p:spPr>
          <a:xfrm rot="16200000">
            <a:off x="11161800" y="4134240"/>
            <a:ext cx="332640" cy="3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572" name="Google Shape;689;p86"/>
          <p:cNvSpPr/>
          <p:nvPr/>
        </p:nvSpPr>
        <p:spPr>
          <a:xfrm>
            <a:off x="9268560" y="356760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3" name="Google Shape;690;p86"/>
          <p:cNvSpPr/>
          <p:nvPr/>
        </p:nvSpPr>
        <p:spPr>
          <a:xfrm>
            <a:off x="9541800" y="494028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74" name="Google Shape;691;p86"/>
          <p:cNvCxnSpPr>
            <a:stCxn id="566" idx="3"/>
            <a:endCxn id="573" idx="6"/>
          </p:cNvCxnSpPr>
          <p:nvPr/>
        </p:nvCxnSpPr>
        <p:spPr>
          <a:xfrm rot="5400000">
            <a:off x="10634400" y="5133960"/>
            <a:ext cx="272520" cy="3798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75" name="Google Shape;692;p86"/>
          <p:cNvCxnSpPr>
            <a:stCxn id="573" idx="7"/>
            <a:endCxn id="566" idx="2"/>
          </p:cNvCxnSpPr>
          <p:nvPr/>
        </p:nvCxnSpPr>
        <p:spPr>
          <a:xfrm flipH="1" flipV="1" rot="5400000">
            <a:off x="10482480" y="4766400"/>
            <a:ext cx="272520" cy="3798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76" name="Google Shape;693;p86"/>
          <p:cNvCxnSpPr>
            <a:stCxn id="565" idx="2"/>
            <a:endCxn id="572" idx="6"/>
          </p:cNvCxnSpPr>
          <p:nvPr/>
        </p:nvCxnSpPr>
        <p:spPr>
          <a:xfrm flipV="1" rot="10800000">
            <a:off x="10307160" y="3448440"/>
            <a:ext cx="501120" cy="638640"/>
          </a:xfrm>
          <a:prstGeom prst="curvedConnector3">
            <a:avLst>
              <a:gd name="adj1" fmla="val 4881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77" name="Google Shape;694;p86"/>
          <p:cNvCxnSpPr>
            <a:stCxn id="572" idx="2"/>
            <a:endCxn id="563" idx="4"/>
          </p:cNvCxnSpPr>
          <p:nvPr/>
        </p:nvCxnSpPr>
        <p:spPr>
          <a:xfrm rot="10800000">
            <a:off x="8872560" y="3315240"/>
            <a:ext cx="396000" cy="772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grpSp>
        <p:nvGrpSpPr>
          <p:cNvPr id="578" name="Google Shape;285;p 31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579" name="Google Shape;286;p 31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80" name="Google Shape;287;p 31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702;p87"/>
          <p:cNvSpPr/>
          <p:nvPr/>
        </p:nvSpPr>
        <p:spPr>
          <a:xfrm>
            <a:off x="159840" y="11894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State Machine Design Pattern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2" name="Google Shape;703;p87"/>
          <p:cNvSpPr/>
          <p:nvPr/>
        </p:nvSpPr>
        <p:spPr>
          <a:xfrm>
            <a:off x="190800" y="1816560"/>
            <a:ext cx="7759440" cy="483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This generic FSM pattern is used across multiple modules to manage their internal logic and execution flow.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283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DISABLE: The module is inactive and resources are released.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INIT: Initializes hardware and internal variables.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TEST: Performs self-checks and verifies correct functionality.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ERROR: Captures faults and attempts recovery or shutdown.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IDLE: Waits for commands or events.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spcBef>
                <a:spcPts val="1134"/>
              </a:spcBef>
              <a:buClr>
                <a:srgbClr val="2a6099"/>
              </a:buClr>
              <a:buFont typeface="Wingdings" charset="2"/>
              <a:buChar char=""/>
              <a:tabLst>
                <a:tab algn="l" pos="0"/>
              </a:tabLst>
            </a:pP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</a:t>
            </a:r>
            <a:r>
              <a:rPr b="1" lang="en-GB" sz="2000" strike="noStrike" u="none">
                <a:solidFill>
                  <a:srgbClr val="000000"/>
                </a:solidFill>
                <a:highlight>
                  <a:srgbClr val="77bc65"/>
                </a:highlight>
                <a:uFillTx/>
                <a:latin typeface="Arial"/>
                <a:ea typeface="Arial"/>
              </a:rPr>
              <a:t>RUN JOB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: Executes the main task or acquisition.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134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Transitions are triggered by internal events or commands.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just" defTabSz="914400">
              <a:lnSpc>
                <a:spcPct val="100000"/>
              </a:lnSpc>
              <a:spcBef>
                <a:spcPts val="1701"/>
              </a:spcBef>
              <a:tabLst>
                <a:tab algn="l" pos="0"/>
              </a:tabLst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Each FSM has a scheduler, message_handler and update functions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3" name="Google Shape;704;p87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584" name="Google Shape;705;p87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5" name="Google Shape;706;p87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6" name="Google Shape;707;p87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7" name="Google Shape;708;p87"/>
          <p:cNvSpPr/>
          <p:nvPr/>
        </p:nvSpPr>
        <p:spPr>
          <a:xfrm>
            <a:off x="8353440" y="227628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DISABLE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8" name="Google Shape;709;p87"/>
          <p:cNvSpPr/>
          <p:nvPr/>
        </p:nvSpPr>
        <p:spPr>
          <a:xfrm>
            <a:off x="9633240" y="227664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INIT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9" name="Google Shape;710;p87"/>
          <p:cNvSpPr/>
          <p:nvPr/>
        </p:nvSpPr>
        <p:spPr>
          <a:xfrm>
            <a:off x="10808280" y="292932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TEST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0" name="Google Shape;711;p87"/>
          <p:cNvSpPr/>
          <p:nvPr/>
        </p:nvSpPr>
        <p:spPr>
          <a:xfrm>
            <a:off x="10808280" y="430056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IDLE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1" name="Google Shape;712;p87"/>
          <p:cNvSpPr/>
          <p:nvPr/>
        </p:nvSpPr>
        <p:spPr>
          <a:xfrm>
            <a:off x="8363160" y="1800000"/>
            <a:ext cx="255600" cy="255240"/>
          </a:xfrm>
          <a:prstGeom prst="ellipse">
            <a:avLst/>
          </a:prstGeom>
          <a:solidFill>
            <a:srgbClr val="000000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0360" bIns="90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cxnSp>
        <p:nvCxnSpPr>
          <p:cNvPr id="592" name="Google Shape;713;p87"/>
          <p:cNvCxnSpPr>
            <a:stCxn id="591" idx="6"/>
            <a:endCxn id="587" idx="0"/>
          </p:cNvCxnSpPr>
          <p:nvPr/>
        </p:nvCxnSpPr>
        <p:spPr>
          <a:xfrm>
            <a:off x="8618760" y="1927800"/>
            <a:ext cx="254520" cy="34884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93" name="Google Shape;714;p87"/>
          <p:cNvCxnSpPr>
            <a:stCxn id="587" idx="6"/>
            <a:endCxn id="588" idx="2"/>
          </p:cNvCxnSpPr>
          <p:nvPr/>
        </p:nvCxnSpPr>
        <p:spPr>
          <a:xfrm>
            <a:off x="9392400" y="2795760"/>
            <a:ext cx="241200" cy="720"/>
          </a:xfrm>
          <a:prstGeom prst="curvedConnector3">
            <a:avLst>
              <a:gd name="adj1" fmla="val 5336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94" name="Google Shape;715;p87"/>
          <p:cNvCxnSpPr>
            <a:stCxn id="588" idx="6"/>
            <a:endCxn id="589" idx="0"/>
          </p:cNvCxnSpPr>
          <p:nvPr/>
        </p:nvCxnSpPr>
        <p:spPr>
          <a:xfrm>
            <a:off x="10672200" y="2796120"/>
            <a:ext cx="655920" cy="1335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95" name="Google Shape;716;p87"/>
          <p:cNvCxnSpPr>
            <a:stCxn id="589" idx="4"/>
            <a:endCxn id="590" idx="0"/>
          </p:cNvCxnSpPr>
          <p:nvPr/>
        </p:nvCxnSpPr>
        <p:spPr>
          <a:xfrm rot="16200000">
            <a:off x="11161800" y="4134240"/>
            <a:ext cx="332640" cy="36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sp>
        <p:nvSpPr>
          <p:cNvPr id="596" name="Google Shape;717;p87"/>
          <p:cNvSpPr/>
          <p:nvPr/>
        </p:nvSpPr>
        <p:spPr>
          <a:xfrm>
            <a:off x="9268560" y="3567600"/>
            <a:ext cx="1038960" cy="1038960"/>
          </a:xfrm>
          <a:prstGeom prst="ellipse">
            <a:avLst/>
          </a:prstGeom>
          <a:noFill/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ERROR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7" name="Google Shape;718;p87"/>
          <p:cNvSpPr/>
          <p:nvPr/>
        </p:nvSpPr>
        <p:spPr>
          <a:xfrm>
            <a:off x="9541800" y="4940280"/>
            <a:ext cx="1038960" cy="1038960"/>
          </a:xfrm>
          <a:prstGeom prst="ellipse">
            <a:avLst/>
          </a:prstGeom>
          <a:solidFill>
            <a:srgbClr val="77bc65"/>
          </a:solidFill>
          <a:ln w="360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RUN JOB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98" name="Google Shape;719;p87"/>
          <p:cNvCxnSpPr>
            <a:stCxn id="590" idx="3"/>
            <a:endCxn id="597" idx="6"/>
          </p:cNvCxnSpPr>
          <p:nvPr/>
        </p:nvCxnSpPr>
        <p:spPr>
          <a:xfrm rot="5400000">
            <a:off x="10634400" y="5133960"/>
            <a:ext cx="272520" cy="3798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599" name="Google Shape;720;p87"/>
          <p:cNvCxnSpPr>
            <a:stCxn id="597" idx="7"/>
            <a:endCxn id="590" idx="2"/>
          </p:cNvCxnSpPr>
          <p:nvPr/>
        </p:nvCxnSpPr>
        <p:spPr>
          <a:xfrm flipH="1" flipV="1" rot="5400000">
            <a:off x="10482480" y="4766400"/>
            <a:ext cx="272520" cy="3798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600" name="Google Shape;721;p87"/>
          <p:cNvCxnSpPr>
            <a:stCxn id="589" idx="2"/>
            <a:endCxn id="596" idx="6"/>
          </p:cNvCxnSpPr>
          <p:nvPr/>
        </p:nvCxnSpPr>
        <p:spPr>
          <a:xfrm flipV="1" rot="10800000">
            <a:off x="10307160" y="3448440"/>
            <a:ext cx="501120" cy="638640"/>
          </a:xfrm>
          <a:prstGeom prst="curvedConnector3">
            <a:avLst>
              <a:gd name="adj1" fmla="val 48813"/>
            </a:avLst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cxnSp>
        <p:nvCxnSpPr>
          <p:cNvPr id="601" name="Google Shape;722;p87"/>
          <p:cNvCxnSpPr>
            <a:stCxn id="596" idx="2"/>
            <a:endCxn id="587" idx="4"/>
          </p:cNvCxnSpPr>
          <p:nvPr/>
        </p:nvCxnSpPr>
        <p:spPr>
          <a:xfrm rot="10800000">
            <a:off x="8872560" y="3315240"/>
            <a:ext cx="396000" cy="772200"/>
          </a:xfrm>
          <a:prstGeom prst="curvedConnector2">
            <a:avLst/>
          </a:prstGeom>
          <a:ln w="36000">
            <a:solidFill>
              <a:srgbClr val="3465a4"/>
            </a:solidFill>
            <a:round/>
            <a:tailEnd len="med" type="triangle" w="med"/>
          </a:ln>
        </p:spPr>
      </p:cxnSp>
      <p:grpSp>
        <p:nvGrpSpPr>
          <p:cNvPr id="602" name="Google Shape;285;p 32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603" name="Google Shape;286;p 32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4" name="Google Shape;287;p 32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842;p96"/>
          <p:cNvSpPr/>
          <p:nvPr/>
        </p:nvSpPr>
        <p:spPr>
          <a:xfrm>
            <a:off x="159840" y="11894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Conclusions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6" name="Google Shape;843;p96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607" name="Google Shape;844;p96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8" name="Google Shape;845;p96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9" name="Google Shape;846;p96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0" name="Google Shape;847;p96"/>
          <p:cNvSpPr/>
          <p:nvPr/>
        </p:nvSpPr>
        <p:spPr>
          <a:xfrm>
            <a:off x="659520" y="1701000"/>
            <a:ext cx="1094328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2a6099"/>
              </a:buClr>
              <a:buFont typeface="OpenSymbol"/>
              <a:buChar char="►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 </a:t>
            </a:r>
            <a:r>
              <a:rPr b="1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new deployment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for underwater noise measurement was developed for </a:t>
            </a:r>
            <a:r>
              <a:rPr b="1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shallow waters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on the Argentinian continental shelf: application to </a:t>
            </a:r>
            <a:r>
              <a:rPr b="1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impulsive sound monitoring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 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2a6099"/>
              </a:buClr>
              <a:buFont typeface="OpenSymbol"/>
              <a:buChar char="►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 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Potential relevance for </a:t>
            </a:r>
            <a:r>
              <a:rPr b="1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basin-scale propagation analysis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using impulsive signals detected by the </a:t>
            </a:r>
            <a:r>
              <a:rPr b="1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IMS hydroacoustic network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2a6099"/>
              </a:buClr>
              <a:buFont typeface="OpenSymbol"/>
              <a:buChar char="►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 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The </a:t>
            </a:r>
            <a:r>
              <a:rPr b="1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low-cost prototype buoy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for coastal </a:t>
            </a:r>
            <a:r>
              <a:rPr b="1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acoustic monitoring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is in its final integration stage, designed for robustness with a static mooring system.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2a6099"/>
              </a:buClr>
              <a:buFont typeface="OpenSymbol"/>
              <a:buChar char="►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 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Proposed deployment sites (MDQ and CRD) were selected to </a:t>
            </a:r>
            <a:r>
              <a:rPr b="1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enhance detection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in previously </a:t>
            </a:r>
            <a:r>
              <a:rPr b="1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uncovered regions</a:t>
            </a:r>
            <a:r>
              <a:rPr b="1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701"/>
              </a:spcBef>
              <a:spcAft>
                <a:spcPts val="1701"/>
              </a:spcAft>
              <a:buClr>
                <a:srgbClr val="2a6099"/>
              </a:buClr>
              <a:buFont typeface="OpenSymbol"/>
              <a:buChar char="►"/>
            </a:pP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  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This platform paves the way for a </a:t>
            </a:r>
            <a:r>
              <a:rPr b="1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scalable coastal monitoring system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supporting baseline studies of shallow water </a:t>
            </a:r>
            <a:r>
              <a:rPr b="1" lang="en-GB" sz="2000" strike="noStrike" u="none">
                <a:solidFill>
                  <a:srgbClr val="2a6099"/>
                </a:solidFill>
                <a:uFillTx/>
                <a:latin typeface="Arial"/>
                <a:ea typeface="Arial"/>
              </a:rPr>
              <a:t>soundscapes</a:t>
            </a:r>
            <a:r>
              <a:rPr b="0" lang="en-GB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 and long-range propagation analysis.</a:t>
            </a:r>
            <a:endParaRPr b="0" lang="es-E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611" name="Google Shape;285;p 33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612" name="Google Shape;286;p 33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3" name="Google Shape;287;p 33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843;p 1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615" name="Google Shape;844;p 1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6" name="Google Shape;845;p 1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7" name="Google Shape;846;p 1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8" name="Google Shape;411;p 1"/>
          <p:cNvSpPr/>
          <p:nvPr/>
        </p:nvSpPr>
        <p:spPr>
          <a:xfrm>
            <a:off x="159840" y="27230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Thank you!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9" name="Google Shape;398;p 3"/>
          <p:cNvSpPr/>
          <p:nvPr/>
        </p:nvSpPr>
        <p:spPr>
          <a:xfrm>
            <a:off x="454680" y="1716840"/>
            <a:ext cx="11262240" cy="356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just" defTabSz="914400">
              <a:lnSpc>
                <a:spcPct val="100000"/>
              </a:lnSpc>
              <a:tabLst>
                <a:tab algn="l" pos="0"/>
              </a:tabLst>
            </a:pPr>
            <a:endParaRPr b="0" lang="es-E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620" name="Google Shape;285;p 34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621" name="Google Shape;286;p 34" descr=""/>
            <p:cNvPicPr/>
            <p:nvPr/>
          </p:nvPicPr>
          <p:blipFill>
            <a:blip r:embed="rId1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22" name="Google Shape;287;p 34" descr=""/>
            <p:cNvPicPr/>
            <p:nvPr/>
          </p:nvPicPr>
          <p:blipFill>
            <a:blip r:embed="rId2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427;p76"/>
          <p:cNvSpPr/>
          <p:nvPr/>
        </p:nvSpPr>
        <p:spPr>
          <a:xfrm>
            <a:off x="159840" y="1189440"/>
            <a:ext cx="1186596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24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SCHEMATIC OF THE BUOY MOORING SYSTEM WITH HYDROPHONES </a:t>
            </a:r>
            <a:endParaRPr b="0" lang="es-E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4" name="Google Shape;428;p 1"/>
          <p:cNvSpPr/>
          <p:nvPr/>
        </p:nvSpPr>
        <p:spPr>
          <a:xfrm>
            <a:off x="8776080" y="-1116360"/>
            <a:ext cx="694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defTabSz="914400">
              <a:lnSpc>
                <a:spcPct val="100000"/>
              </a:lnSpc>
            </a:pPr>
            <a:endParaRPr b="0" lang="es-ES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625" name="Google Shape;429;p 1"/>
          <p:cNvSpPr/>
          <p:nvPr/>
        </p:nvSpPr>
        <p:spPr>
          <a:xfrm>
            <a:off x="3759120" y="72000"/>
            <a:ext cx="762660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GB" sz="1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A Portable Experimental Buoy for Coastal Acoustic Monitoring</a:t>
            </a:r>
            <a:endParaRPr b="0" lang="es-E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6" name="Google Shape;430;p 1"/>
          <p:cNvSpPr/>
          <p:nvPr/>
        </p:nvSpPr>
        <p:spPr>
          <a:xfrm>
            <a:off x="3771000" y="662400"/>
            <a:ext cx="76147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GB" sz="1200" strike="noStrike" u="none">
                <a:solidFill>
                  <a:srgbClr val="1a3a64"/>
                </a:solidFill>
                <a:uFillTx/>
                <a:latin typeface="Arial"/>
                <a:ea typeface="Arial"/>
              </a:rPr>
              <a:t>Prario, I; Bos, P; Marques Rojo, R; Cinquini, M; Blanc, S.</a:t>
            </a:r>
            <a:endParaRPr b="0" lang="es-E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7" name="Google Shape;431;p 1"/>
          <p:cNvSpPr/>
          <p:nvPr/>
        </p:nvSpPr>
        <p:spPr>
          <a:xfrm>
            <a:off x="11490840" y="-166320"/>
            <a:ext cx="69480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90000"/>
              </a:lnSpc>
              <a:tabLst>
                <a:tab algn="l" pos="0"/>
              </a:tabLst>
            </a:pPr>
            <a:r>
              <a:rPr b="1" lang="en-GB" sz="1050" strike="noStrike" u="none">
                <a:solidFill>
                  <a:srgbClr val="1b3b65"/>
                </a:solidFill>
                <a:uFillTx/>
                <a:latin typeface="Arial"/>
                <a:ea typeface="Arial"/>
              </a:rPr>
              <a:t>T1.3 - 299</a:t>
            </a:r>
            <a:endParaRPr b="0" lang="es-E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28" name="Google Shape;432;p 1" descr=""/>
          <p:cNvPicPr/>
          <p:nvPr/>
        </p:nvPicPr>
        <p:blipFill>
          <a:blip r:embed="rId1"/>
          <a:stretch/>
        </p:blipFill>
        <p:spPr>
          <a:xfrm>
            <a:off x="5400" y="2160000"/>
            <a:ext cx="8585640" cy="467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9" name="Google Shape;433;p 1" descr=""/>
          <p:cNvPicPr/>
          <p:nvPr/>
        </p:nvPicPr>
        <p:blipFill>
          <a:blip r:embed="rId2"/>
          <a:stretch/>
        </p:blipFill>
        <p:spPr>
          <a:xfrm>
            <a:off x="8208000" y="2196000"/>
            <a:ext cx="4077360" cy="42069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630" name="Google Shape;285;p 35"/>
          <p:cNvGrpSpPr/>
          <p:nvPr/>
        </p:nvGrpSpPr>
        <p:grpSpPr>
          <a:xfrm>
            <a:off x="10234440" y="93960"/>
            <a:ext cx="1799640" cy="431640"/>
            <a:chOff x="10234440" y="93960"/>
            <a:chExt cx="1799640" cy="431640"/>
          </a:xfrm>
        </p:grpSpPr>
        <p:pic>
          <p:nvPicPr>
            <p:cNvPr id="631" name="Google Shape;286;p 35" descr=""/>
            <p:cNvPicPr/>
            <p:nvPr/>
          </p:nvPicPr>
          <p:blipFill>
            <a:blip r:embed="rId3"/>
            <a:stretch/>
          </p:blipFill>
          <p:spPr>
            <a:xfrm>
              <a:off x="10653480" y="94320"/>
              <a:ext cx="1380600" cy="4291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32" name="Google Shape;287;p 35" descr=""/>
            <p:cNvPicPr/>
            <p:nvPr/>
          </p:nvPicPr>
          <p:blipFill>
            <a:blip r:embed="rId4"/>
            <a:stretch/>
          </p:blipFill>
          <p:spPr>
            <a:xfrm>
              <a:off x="10234440" y="93960"/>
              <a:ext cx="393120" cy="4316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6178</TotalTime>
  <Application>LibreOffice/24.8.7.2$Linux_X86_64 LibreOffice_project/480$Build-2</Application>
  <AppVersion>15.0000</AppVersion>
  <Words>4576</Words>
  <Paragraphs>515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Acustica</dc:creator>
  <dc:description/>
  <dc:language>es-ES</dc:language>
  <cp:lastModifiedBy/>
  <cp:lastPrinted>2025-08-20T12:46:43Z</cp:lastPrinted>
  <dcterms:modified xsi:type="dcterms:W3CDTF">2025-08-29T13:07:20Z</dcterms:modified>
  <cp:revision>137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32</vt:r8>
  </property>
  <property fmtid="{D5CDD505-2E9C-101B-9397-08002B2CF9AE}" pid="3" name="PresentationFormat">
    <vt:lpwstr>Personalizado</vt:lpwstr>
  </property>
  <property fmtid="{D5CDD505-2E9C-101B-9397-08002B2CF9AE}" pid="4" name="Slides">
    <vt:i4>37</vt:i4>
  </property>
</Properties>
</file>