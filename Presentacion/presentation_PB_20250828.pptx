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7.xml" ContentType="application/vnd.openxmlformats-officedocument.theme+xml"/>
  <Override PartName="/ppt/theme/theme15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_rels/presentation.xml.rels" ContentType="application/vnd.openxmlformats-package.relationships+xml"/>
  <Override PartName="/ppt/media/image13.jpeg" ContentType="image/jpeg"/>
  <Override PartName="/ppt/media/image10.png" ContentType="image/png"/>
  <Override PartName="/ppt/media/image6.jpeg" ContentType="image/jpeg"/>
  <Override PartName="/ppt/media/image1.png" ContentType="image/png"/>
  <Override PartName="/ppt/media/image12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5.jpeg" ContentType="image/jpe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5.png" ContentType="image/png"/>
  <Override PartName="/ppt/media/image3.jpeg" ContentType="image/jpeg"/>
  <Override PartName="/ppt/media/image23.png" ContentType="image/png"/>
  <Override PartName="/ppt/media/image14.jpeg" ContentType="image/jpeg"/>
  <Override PartName="/ppt/media/image4.jpeg" ContentType="image/jpeg"/>
  <Override PartName="/ppt/media/image25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</p:sld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289" r:id="rId62"/>
    <p:sldId id="290" r:id="rId63"/>
    <p:sldId id="291" r:id="rId64"/>
    <p:sldId id="292" r:id="rId6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2" Type="http://schemas.openxmlformats.org/officeDocument/2006/relationships/slide" Target="slides/slide34.xml"/><Relationship Id="rId63" Type="http://schemas.openxmlformats.org/officeDocument/2006/relationships/slide" Target="slides/slide35.xml"/><Relationship Id="rId64" Type="http://schemas.openxmlformats.org/officeDocument/2006/relationships/slide" Target="slides/slide36.xml"/><Relationship Id="rId65" Type="http://schemas.openxmlformats.org/officeDocument/2006/relationships/slide" Target="slides/slide37.xml"/><Relationship Id="rId6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to edit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the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title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text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8240" cy="23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400" cy="397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  <p:sldLayoutId id="214748370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slideLayout" Target="../slideLayouts/slideLayout2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8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79;p66" descr="Ein Bild, das Text, Screenshot, Diagramm, Reihe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1440" y="-16560"/>
            <a:ext cx="12186360" cy="68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Google Shape;280;p66"/>
          <p:cNvSpPr/>
          <p:nvPr/>
        </p:nvSpPr>
        <p:spPr>
          <a:xfrm>
            <a:off x="812880" y="3661560"/>
            <a:ext cx="880236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Google Shape;281;p66"/>
          <p:cNvSpPr/>
          <p:nvPr/>
        </p:nvSpPr>
        <p:spPr>
          <a:xfrm>
            <a:off x="2632680" y="3943080"/>
            <a:ext cx="471492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Argentinian Navy Research Office &amp; UNIDEF (CONICET)</a:t>
            </a:r>
            <a:endParaRPr b="0" lang="es-E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Google Shape;282;p66"/>
          <p:cNvSpPr/>
          <p:nvPr/>
        </p:nvSpPr>
        <p:spPr>
          <a:xfrm>
            <a:off x="2632680" y="4872600"/>
            <a:ext cx="698256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Presentation Date: 11 September 2025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Google Shape;283;p66"/>
          <p:cNvSpPr/>
          <p:nvPr/>
        </p:nvSpPr>
        <p:spPr>
          <a:xfrm>
            <a:off x="812880" y="2523960"/>
            <a:ext cx="880236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 Portable Experimental Buoy for Coastal Acoustic Monitoring as a Potential Complement to the IMS Hydroacoustic Network: </a:t>
            </a:r>
            <a:br>
              <a:rPr sz="2400"/>
            </a:b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Applications on the Argentinian Continental Shelf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09" name="Google Shape;285;p66"/>
          <p:cNvGrpSpPr/>
          <p:nvPr/>
        </p:nvGrpSpPr>
        <p:grpSpPr>
          <a:xfrm>
            <a:off x="7534440" y="4017960"/>
            <a:ext cx="2144160" cy="512640"/>
            <a:chOff x="7534440" y="4017960"/>
            <a:chExt cx="2144160" cy="512640"/>
          </a:xfrm>
        </p:grpSpPr>
        <p:pic>
          <p:nvPicPr>
            <p:cNvPr id="110" name="Google Shape;286;p66" descr=""/>
            <p:cNvPicPr/>
            <p:nvPr/>
          </p:nvPicPr>
          <p:blipFill>
            <a:blip r:embed="rId2"/>
            <a:stretch/>
          </p:blipFill>
          <p:spPr>
            <a:xfrm>
              <a:off x="8033760" y="4018320"/>
              <a:ext cx="1644840" cy="509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" name="Google Shape;287;p66" descr=""/>
            <p:cNvPicPr/>
            <p:nvPr/>
          </p:nvPicPr>
          <p:blipFill>
            <a:blip r:embed="rId3"/>
            <a:stretch/>
          </p:blipFill>
          <p:spPr>
            <a:xfrm>
              <a:off x="7534440" y="4017960"/>
              <a:ext cx="468720" cy="512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2" name="Google Shape;297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92;p67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Background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293;p67"/>
          <p:cNvSpPr/>
          <p:nvPr/>
        </p:nvSpPr>
        <p:spPr>
          <a:xfrm>
            <a:off x="144000" y="1808640"/>
            <a:ext cx="6126480" cy="30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Airgun array used in seismic surveys generate sound pulses 5–60 Hz that can propagate over ocean-basin scales.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Under favourable conditions, signals reach CTBT IMS hydroacoustic (HA) stations with high SNR.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On the Argentinian Continental Shelf, airgun signals detected at H10N can be used to validate long-range propagation models 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(1)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Limitations: highly directional sources and shallow-water propagation reduce detectability.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Challenge: synchronize ground-truth airgun shots with H10N recordings, actual Source Levels.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Google Shape;294;p67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16" name="Google Shape;295;p67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296;p67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Google Shape;297;p67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72000" y="6300000"/>
            <a:ext cx="1219104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GB" sz="1250" strike="noStrike" u="none" baseline="33000">
                <a:solidFill>
                  <a:schemeClr val="dk1"/>
                </a:solidFill>
                <a:uFillTx/>
                <a:latin typeface="Arial"/>
                <a:ea typeface="Noto Sans CJK SC"/>
              </a:rPr>
              <a:t>(1)  </a:t>
            </a:r>
            <a:r>
              <a:rPr b="0" lang="en-GB" sz="125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SnT2021 P1.3-494 An inverse problem approach for acoustic Transmission Loss estimation from the analysis of signals generated by seismic air-gun arrays.</a:t>
            </a:r>
            <a:br>
              <a:rPr sz="1250"/>
            </a:br>
            <a:r>
              <a:rPr b="0" lang="en-GB" sz="12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Noto Sans CJK SC"/>
              </a:rPr>
              <a:t>    </a:t>
            </a:r>
            <a:r>
              <a:rPr b="0" lang="en-GB" sz="125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SnT2023 O1.3-536 Analysis of bathymetric effects on long-range acoustic propagation using 2D and 3D Transmission Loss models in signals generated by airgun arrays.</a:t>
            </a:r>
            <a:endParaRPr b="0" lang="es-E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0" name="1 Imagen" descr=""/>
          <p:cNvPicPr/>
          <p:nvPr/>
        </p:nvPicPr>
        <p:blipFill>
          <a:blip r:embed="rId1"/>
          <a:stretch/>
        </p:blipFill>
        <p:spPr>
          <a:xfrm>
            <a:off x="6524640" y="1788120"/>
            <a:ext cx="5542920" cy="41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Google Shape;293;p67"/>
          <p:cNvSpPr/>
          <p:nvPr/>
        </p:nvSpPr>
        <p:spPr>
          <a:xfrm>
            <a:off x="325800" y="5086080"/>
            <a:ext cx="10877400" cy="22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22" name="108 Rectángulo"/>
          <p:cNvSpPr/>
          <p:nvPr/>
        </p:nvSpPr>
        <p:spPr>
          <a:xfrm>
            <a:off x="6023520" y="3319200"/>
            <a:ext cx="1774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0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23" name="Google Shape;285;p 1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24" name="Google Shape;286;p 1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Google Shape;287;p 1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306;p68"/>
          <p:cNvSpPr/>
          <p:nvPr/>
        </p:nvSpPr>
        <p:spPr>
          <a:xfrm>
            <a:off x="159840" y="100728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Motivation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Google Shape;308;p68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28" name="Google Shape;309;p68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Google Shape;310;p68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Google Shape;311;p68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1" name="Google Shape;312;p68" descr=""/>
          <p:cNvPicPr/>
          <p:nvPr/>
        </p:nvPicPr>
        <p:blipFill>
          <a:blip r:embed="rId1"/>
          <a:stretch/>
        </p:blipFill>
        <p:spPr>
          <a:xfrm>
            <a:off x="299520" y="1783080"/>
            <a:ext cx="4775400" cy="342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Google Shape;307;p 1"/>
          <p:cNvSpPr/>
          <p:nvPr/>
        </p:nvSpPr>
        <p:spPr>
          <a:xfrm>
            <a:off x="5580000" y="1656000"/>
            <a:ext cx="6379200" cy="40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Seismic surveys are conducted in offshore oil &amp; gas exploration blocks.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Large dataset of high-amplitude impulsive signals → basin-scale propagation analysis.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Airgun array source levels simulated with an open-source airgun modelling software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(2)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Energy source level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~ 190 - 210 dB re 1µPa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 within 5–70 Hz band (HA10 direction).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Need for local measurement of airgun shots signals or other underwater noise sources on the Continental Shelf </a:t>
            </a:r>
            <a:r>
              <a:rPr b="0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►</a:t>
            </a:r>
            <a:r>
              <a:rPr b="0" lang="en-GB" sz="20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selection of semi-permanent sites for buoy-deployed hydrophones.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119 Rectángulo"/>
          <p:cNvSpPr/>
          <p:nvPr/>
        </p:nvSpPr>
        <p:spPr>
          <a:xfrm>
            <a:off x="3300120" y="6107400"/>
            <a:ext cx="707076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(2) Sertlek, H. O., and Ainslie, M. A. (2015). “AGORA: Airgun Source Signature Model: Its application for the Dutch Seismic Survey,” in Proceedings of Underwater Acoustics Conference and Exhibition, Crete, Greece, pp. 439–446, 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4" name="120 Imagen" descr=""/>
          <p:cNvPicPr/>
          <p:nvPr/>
        </p:nvPicPr>
        <p:blipFill>
          <a:blip r:embed="rId2"/>
          <a:stretch/>
        </p:blipFill>
        <p:spPr>
          <a:xfrm>
            <a:off x="108000" y="5285880"/>
            <a:ext cx="3435480" cy="1509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5" name="Google Shape;285;p 36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36" name="Google Shape;286;p 36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7" name="Google Shape;287;p 36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321;p69"/>
          <p:cNvSpPr/>
          <p:nvPr/>
        </p:nvSpPr>
        <p:spPr>
          <a:xfrm>
            <a:off x="159840" y="1016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Current acoustic coverage in Argentinian Continental Shelf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Google Shape;322;p69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40" name="Google Shape;323;p69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Google Shape;324;p69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325;p69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Google Shape;329;p4"/>
          <p:cNvSpPr/>
          <p:nvPr/>
        </p:nvSpPr>
        <p:spPr>
          <a:xfrm>
            <a:off x="180000" y="1548000"/>
            <a:ext cx="7016760" cy="48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Goal: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identify candidate shallow-water sites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(depth z &lt; 200 m) for improved local monitoring.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coverage areas of the HA10 station: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preliminary analysis using 2D Parabolic Equation (PE) model RAM (Range-dependent Acoustic Model, Julia implementation).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Oceanographic databases: T, S profiles from Copernicus; bathymetry from GEBCO.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Frequencies band analyzed:  2 Hz &lt; f &lt; 100 Hz.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computed along Nx2D radial transects from H10N.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for airgun array).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Maximum coverage analysis: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High impulsive source levels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(3)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; TL &lt; 200 dB; NL ~ 80 dB re 1µPa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4" name="127 Imagen" descr=""/>
          <p:cNvPicPr/>
          <p:nvPr/>
        </p:nvPicPr>
        <p:blipFill>
          <a:blip r:embed="rId1"/>
          <a:stretch/>
        </p:blipFill>
        <p:spPr>
          <a:xfrm>
            <a:off x="7464240" y="1659960"/>
            <a:ext cx="4575240" cy="507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8"/>
          <p:cNvSpPr/>
          <p:nvPr/>
        </p:nvSpPr>
        <p:spPr>
          <a:xfrm>
            <a:off x="123840" y="6472800"/>
            <a:ext cx="7436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200" strike="noStrike" u="none" baseline="33000">
                <a:solidFill>
                  <a:schemeClr val="dk1"/>
                </a:solidFill>
                <a:uFillTx/>
                <a:latin typeface="Arial"/>
                <a:ea typeface="Noto Sans CJK SC"/>
              </a:rPr>
              <a:t>(3)  </a:t>
            </a:r>
            <a:r>
              <a:rPr b="0" lang="en-GB" sz="12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Dekeling, R.P.A., et al. Monitoring Guidance for Underwater Noise in European Seas, Part III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6" name="Google Shape;285;p 2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47" name="Google Shape;286;p 2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8" name="Google Shape;287;p 2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Google Shape;322;p69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51" name="Google Shape;323;p69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Google Shape;324;p69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325;p69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343;p5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5220000" y="625536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7" name="Google Shape;285;p 3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58" name="Google Shape;286;p 3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Google Shape;287;p 3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336;p70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1" name="Google Shape;337;p70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Google Shape;338;p70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Google Shape;339;p70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5220000" y="626184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Google Shape;343;p 1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8" name="Google Shape;285;p 4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69" name="Google Shape;286;p 4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0" name="Google Shape;287;p 4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350;p7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72" name="Google Shape;351;p7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Google Shape;352;p7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Google Shape;353;p7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5220000" y="626184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343;p 2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9" name="Google Shape;285;p 5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80" name="Google Shape;286;p 5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1" name="Google Shape;287;p 5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364;p72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83" name="Google Shape;365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Google Shape;366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367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321;p 2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Box 1"/>
          <p:cNvSpPr/>
          <p:nvPr/>
        </p:nvSpPr>
        <p:spPr>
          <a:xfrm>
            <a:off x="5220000" y="626184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343;p 3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0" name="Google Shape;285;p 6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191" name="Google Shape;286;p 6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2" name="Google Shape;287;p 6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Google Shape;364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5" name="Google Shape;365;p 2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366;p 2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367;p 2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Google Shape;321;p 4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388;p 1"/>
          <p:cNvSpPr/>
          <p:nvPr/>
        </p:nvSpPr>
        <p:spPr>
          <a:xfrm>
            <a:off x="1485720" y="4037760"/>
            <a:ext cx="750600" cy="714600"/>
          </a:xfrm>
          <a:prstGeom prst="ellipse">
            <a:avLst/>
          </a:prstGeom>
          <a:noFill/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00" name="Google Shape;343;p 6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ARA San Juan wreckage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5220000" y="626184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2" name="Google Shape;285;p 7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03" name="Google Shape;286;p 7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4" name="Google Shape;287;p 7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5075640" cy="481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Google Shape;378;p73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07" name="Google Shape;379;p73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Google Shape;380;p73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Google Shape;381;p73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0" name="Google Shape;387;p73" descr=""/>
          <p:cNvPicPr/>
          <p:nvPr/>
        </p:nvPicPr>
        <p:blipFill>
          <a:blip r:embed="rId2"/>
          <a:stretch/>
        </p:blipFill>
        <p:spPr>
          <a:xfrm>
            <a:off x="2448000" y="3466080"/>
            <a:ext cx="1758600" cy="1172520"/>
          </a:xfrm>
          <a:prstGeom prst="rect">
            <a:avLst/>
          </a:prstGeom>
          <a:noFill/>
          <a:ln w="36000">
            <a:solidFill>
              <a:srgbClr val="ff3838"/>
            </a:solidFill>
            <a:round/>
          </a:ln>
        </p:spPr>
      </p:pic>
      <p:sp>
        <p:nvSpPr>
          <p:cNvPr id="211" name="Google Shape;388;p73"/>
          <p:cNvSpPr/>
          <p:nvPr/>
        </p:nvSpPr>
        <p:spPr>
          <a:xfrm>
            <a:off x="1881720" y="2381400"/>
            <a:ext cx="750600" cy="714600"/>
          </a:xfrm>
          <a:prstGeom prst="ellipse">
            <a:avLst/>
          </a:prstGeom>
          <a:noFill/>
          <a:ln w="3600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212" name="Google Shape;389;p73"/>
          <p:cNvCxnSpPr/>
          <p:nvPr/>
        </p:nvCxnSpPr>
        <p:spPr>
          <a:xfrm>
            <a:off x="2565720" y="2993400"/>
            <a:ext cx="133920" cy="470880"/>
          </a:xfrm>
          <a:prstGeom prst="straightConnector1">
            <a:avLst/>
          </a:prstGeom>
          <a:ln w="36000">
            <a:solidFill>
              <a:srgbClr val="ff3838"/>
            </a:solidFill>
            <a:round/>
            <a:tailEnd len="med" type="triangle" w="med"/>
          </a:ln>
        </p:spPr>
      </p:cxnSp>
      <p:sp>
        <p:nvSpPr>
          <p:cNvPr id="213" name="Google Shape;390;p73"/>
          <p:cNvSpPr/>
          <p:nvPr/>
        </p:nvSpPr>
        <p:spPr>
          <a:xfrm>
            <a:off x="576000" y="3960000"/>
            <a:ext cx="861480" cy="797760"/>
          </a:xfrm>
          <a:prstGeom prst="ellipse">
            <a:avLst/>
          </a:prstGeom>
          <a:noFill/>
          <a:ln w="3600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14" name="Google Shape;391;p73" descr=""/>
          <p:cNvPicPr/>
          <p:nvPr/>
        </p:nvPicPr>
        <p:blipFill>
          <a:blip r:embed="rId3"/>
          <a:stretch/>
        </p:blipFill>
        <p:spPr>
          <a:xfrm>
            <a:off x="1115280" y="4932000"/>
            <a:ext cx="1723320" cy="1074600"/>
          </a:xfrm>
          <a:prstGeom prst="rect">
            <a:avLst/>
          </a:prstGeom>
          <a:noFill/>
          <a:ln w="36000">
            <a:solidFill>
              <a:srgbClr val="3faf46"/>
            </a:solidFill>
            <a:round/>
          </a:ln>
        </p:spPr>
      </p:pic>
      <p:cxnSp>
        <p:nvCxnSpPr>
          <p:cNvPr id="215" name="Google Shape;392;p73"/>
          <p:cNvCxnSpPr/>
          <p:nvPr/>
        </p:nvCxnSpPr>
        <p:spPr>
          <a:xfrm>
            <a:off x="1419480" y="4391280"/>
            <a:ext cx="171000" cy="546120"/>
          </a:xfrm>
          <a:prstGeom prst="straightConnector1">
            <a:avLst/>
          </a:prstGeom>
          <a:ln w="36000">
            <a:solidFill>
              <a:srgbClr val="3faf46"/>
            </a:solidFill>
            <a:round/>
            <a:tailEnd len="med" type="triangle" w="med"/>
          </a:ln>
        </p:spPr>
      </p:cxnSp>
      <p:sp>
        <p:nvSpPr>
          <p:cNvPr id="21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Google Shape;343;p 4"/>
          <p:cNvSpPr/>
          <p:nvPr/>
        </p:nvSpPr>
        <p:spPr>
          <a:xfrm>
            <a:off x="5220000" y="1800000"/>
            <a:ext cx="66193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3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ff3838"/>
                </a:highlight>
                <a:uFillTx/>
                <a:latin typeface="Arial"/>
                <a:ea typeface="Arial"/>
              </a:rPr>
              <a:t>1-MDQ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, 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3faf46"/>
                </a:highlight>
                <a:uFillTx/>
                <a:latin typeface="Arial"/>
                <a:ea typeface="Arial"/>
              </a:rPr>
              <a:t>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5220000" y="6261840"/>
            <a:ext cx="69696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9" name="Google Shape;285;p 8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20" name="Google Shape;286;p 8" descr=""/>
            <p:cNvPicPr/>
            <p:nvPr/>
          </p:nvPicPr>
          <p:blipFill>
            <a:blip r:embed="rId4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1" name="Google Shape;287;p 8" descr=""/>
            <p:cNvPicPr/>
            <p:nvPr/>
          </p:nvPicPr>
          <p:blipFill>
            <a:blip r:embed="rId5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731;p88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23" name="Google Shape;732;p88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Google Shape;733;p88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Google Shape;734;p88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Google Shape;736;p88"/>
          <p:cNvSpPr/>
          <p:nvPr/>
        </p:nvSpPr>
        <p:spPr>
          <a:xfrm>
            <a:off x="144000" y="1620000"/>
            <a:ext cx="652644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Specific goal: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Assess acoustic coverage over the continental shelf and adjacent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Frequency range: 2–100 Hz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(results shown at 10, 20, 50, 80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airgun tow depth).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Receiver depth (hydrophone) = 40 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T, S profiles from Copernicus.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Bathymetry from GEBCO database.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Seabed properties from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Jensen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et al.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NL~80-85 dB re 1µPa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Simulation: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2D PE with RAM.jl.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along Nx2D radial transects from the candidate location.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6552000" y="1620000"/>
            <a:ext cx="5399640" cy="516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9" name="Google Shape;285;p 9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30" name="Google Shape;286;p 9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1" name="Google Shape;287;p 9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731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33" name="Google Shape;732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Google Shape;733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Google Shape;734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Google Shape;321;p 1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Google Shape;736;p 5"/>
          <p:cNvSpPr/>
          <p:nvPr/>
        </p:nvSpPr>
        <p:spPr>
          <a:xfrm>
            <a:off x="6120000" y="2164320"/>
            <a:ext cx="56746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9" name="Google Shape;285;p 10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40" name="Google Shape;286;p 10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1" name="Google Shape;287;p 10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745;p89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43" name="Google Shape;746;p89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Google Shape;747;p89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Google Shape;748;p89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Google Shape;736;p 4"/>
          <p:cNvSpPr/>
          <p:nvPr/>
        </p:nvSpPr>
        <p:spPr>
          <a:xfrm>
            <a:off x="6120000" y="2164320"/>
            <a:ext cx="56746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9" name="Google Shape;285;p 11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50" name="Google Shape;286;p 11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1" name="Google Shape;287;p 11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759;p90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53" name="Google Shape;760;p90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Google Shape;761;p90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Google Shape;762;p90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736;p 3"/>
          <p:cNvSpPr/>
          <p:nvPr/>
        </p:nvSpPr>
        <p:spPr>
          <a:xfrm>
            <a:off x="6120000" y="2164320"/>
            <a:ext cx="56746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9" name="Google Shape;285;p 12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60" name="Google Shape;286;p 12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1" name="Google Shape;287;p 12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773;p9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63" name="Google Shape;774;p9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Google Shape;775;p9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Google Shape;776;p9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Google Shape;736;p 1"/>
          <p:cNvSpPr/>
          <p:nvPr/>
        </p:nvSpPr>
        <p:spPr>
          <a:xfrm>
            <a:off x="6120000" y="2164320"/>
            <a:ext cx="56746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9" name="Google Shape;285;p 13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70" name="Google Shape;286;p 13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1" name="Google Shape;287;p 13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731;p 2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73" name="Google Shape;732;p 3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Google Shape;733;p 3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Google Shape;734;p 3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Google Shape;321;p 3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736;p 2"/>
          <p:cNvSpPr/>
          <p:nvPr/>
        </p:nvSpPr>
        <p:spPr>
          <a:xfrm>
            <a:off x="180000" y="1602360"/>
            <a:ext cx="64180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Specific goal: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Assess acoustic coverage over the continental shelf and adjacent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Frequency range: 2–100 Hz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(results shown at 10, 20, 50, 80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airgun tow depth).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Receiver depth (hydrophone) = 40 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T, S profiles from Copernicus.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Bathymetry from GEBCO database.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Seabed properties from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Jensen et al.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NL~80-85 dB re 1µPa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Simulation: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2D PE with RAM.jl.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along Nx2D radial transects from the candidate location.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6552000" y="1620000"/>
            <a:ext cx="5399640" cy="516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9" name="Google Shape;285;p 14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80" name="Google Shape;286;p 14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1" name="Google Shape;287;p 14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787;p92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83" name="Google Shape;788;p92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Google Shape;789;p92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Google Shape;790;p92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Google Shape;792;p 4"/>
          <p:cNvSpPr/>
          <p:nvPr/>
        </p:nvSpPr>
        <p:spPr>
          <a:xfrm>
            <a:off x="6120000" y="1991160"/>
            <a:ext cx="55519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10–20 Hz band rather than at 50–80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89" name="Google Shape;285;p 15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290" name="Google Shape;286;p 15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1" name="Google Shape;287;p 15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801;p93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93" name="Google Shape;802;p93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Google Shape;803;p93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Google Shape;804;p93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Google Shape;792;p 3"/>
          <p:cNvSpPr/>
          <p:nvPr/>
        </p:nvSpPr>
        <p:spPr>
          <a:xfrm>
            <a:off x="6120000" y="1991160"/>
            <a:ext cx="55519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10–20 Hz band rather than at 50–80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9" name="Google Shape;285;p 16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00" name="Google Shape;286;p 16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1" name="Google Shape;287;p 16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815;p94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03" name="Google Shape;816;p94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Google Shape;817;p94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Google Shape;818;p94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Google Shape;792;p 2"/>
          <p:cNvSpPr/>
          <p:nvPr/>
        </p:nvSpPr>
        <p:spPr>
          <a:xfrm>
            <a:off x="6120000" y="1991160"/>
            <a:ext cx="55519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10–20 Hz band rather than at 50–80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09" name="Google Shape;285;p 17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10" name="Google Shape;286;p 17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1" name="Google Shape;287;p 17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829;p95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13" name="Google Shape;830;p95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Google Shape;831;p95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Google Shape;832;p95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Google Shape;321;p69"/>
          <p:cNvSpPr/>
          <p:nvPr/>
        </p:nvSpPr>
        <p:spPr>
          <a:xfrm>
            <a:off x="159840" y="1052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640" cy="484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Google Shape;792;p 1"/>
          <p:cNvSpPr/>
          <p:nvPr/>
        </p:nvSpPr>
        <p:spPr>
          <a:xfrm>
            <a:off x="6120000" y="1991160"/>
            <a:ext cx="555192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10–20 Hz band rather than at 50–80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9" name="Google Shape;285;p 18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20" name="Google Shape;286;p 18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1" name="Google Shape;287;p 18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97;p 1"/>
          <p:cNvSpPr/>
          <p:nvPr/>
        </p:nvSpPr>
        <p:spPr>
          <a:xfrm>
            <a:off x="159840" y="908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Platform design for hydrophones deployment in selected stations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Google Shape;399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24" name="Google Shape;400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Google Shape;401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Google Shape;402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7" name="Google Shape;403;p 1" descr=""/>
          <p:cNvPicPr/>
          <p:nvPr/>
        </p:nvPicPr>
        <p:blipFill>
          <a:blip r:embed="rId1"/>
          <a:stretch/>
        </p:blipFill>
        <p:spPr>
          <a:xfrm>
            <a:off x="335520" y="1484640"/>
            <a:ext cx="1735920" cy="51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Google Shape;398;p 2"/>
          <p:cNvSpPr/>
          <p:nvPr/>
        </p:nvSpPr>
        <p:spPr>
          <a:xfrm>
            <a:off x="2592000" y="1988640"/>
            <a:ext cx="914616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es-AR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Main objetives: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Characterization of ambient noise or underwater sound sources on the Argentinian continental shelf.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Contributing to the understanding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</a:t>
            </a: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shallow-water acoustic propagation.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Potentially contribute to the understanding of long-range propagation using additional data from IMS-HA network.   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custom-designed buoy is a prototype platform developed for the deployment of hydrophone array at near-shore semi-permanent stations.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9" name="Google Shape;285;p 19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30" name="Google Shape;286;p 19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1" name="Google Shape;287;p 19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97;p 1"/>
          <p:cNvSpPr/>
          <p:nvPr/>
        </p:nvSpPr>
        <p:spPr>
          <a:xfrm>
            <a:off x="159840" y="9086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Platform design for hydrophones deployment in selected stations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Google Shape;398;p 1"/>
          <p:cNvSpPr/>
          <p:nvPr/>
        </p:nvSpPr>
        <p:spPr>
          <a:xfrm>
            <a:off x="2592000" y="1988640"/>
            <a:ext cx="914616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Features: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Glass-Reinforced Plastic hull for corrosion resistance and lightweight performance.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3 mooring lines for stable position.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Stand-alone operation with solar power system.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sealed electronics compartment and a central mast for sensors, antennas, satellite transmission and GPS.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Harsh marine conditions: strong currents and waves up to 4 meters.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Google Shape;399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35" name="Google Shape;400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Google Shape;401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Google Shape;402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8" name="Google Shape;403;p 1" descr=""/>
          <p:cNvPicPr/>
          <p:nvPr/>
        </p:nvPicPr>
        <p:blipFill>
          <a:blip r:embed="rId1"/>
          <a:stretch/>
        </p:blipFill>
        <p:spPr>
          <a:xfrm>
            <a:off x="335520" y="1484640"/>
            <a:ext cx="1735920" cy="5141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9" name="Google Shape;285;p 20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40" name="Google Shape;286;p 20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1" name="Google Shape;287;p 20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411;p75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Electronics Rack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Google Shape;412;p75"/>
          <p:cNvSpPr/>
          <p:nvPr/>
        </p:nvSpPr>
        <p:spPr>
          <a:xfrm>
            <a:off x="5519880" y="2356560"/>
            <a:ext cx="624888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Removable, lift-out aluminum rack houses: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246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Fanless embedded computer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24-bit audio interface for broadband hydrophone digitization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Low-noise hydrophone preamplifiers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AIS-AtoN (Automatic Identification System)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Satellite modem for telemetry and command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Deep-cycle battery with solar charge controller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Google Shape;413;p75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45" name="Google Shape;414;p75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Google Shape;415;p75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Google Shape;416;p75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48" name="Google Shape;420;p75"/>
          <p:cNvCxnSpPr/>
          <p:nvPr/>
        </p:nvCxnSpPr>
        <p:spPr>
          <a:xfrm>
            <a:off x="2214360" y="3883320"/>
            <a:ext cx="851040" cy="80640"/>
          </a:xfrm>
          <a:prstGeom prst="straightConnector1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349" name="Google Shape;422;p75" descr=""/>
          <p:cNvPicPr/>
          <p:nvPr/>
        </p:nvPicPr>
        <p:blipFill>
          <a:blip r:embed="rId1"/>
          <a:stretch/>
        </p:blipFill>
        <p:spPr>
          <a:xfrm>
            <a:off x="3024000" y="3069000"/>
            <a:ext cx="2197080" cy="323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307 Imagen" descr=""/>
          <p:cNvPicPr/>
          <p:nvPr/>
        </p:nvPicPr>
        <p:blipFill>
          <a:blip r:embed="rId2"/>
          <a:stretch/>
        </p:blipFill>
        <p:spPr>
          <a:xfrm>
            <a:off x="93600" y="703440"/>
            <a:ext cx="2963880" cy="6067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1" name="Google Shape;285;p 21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52" name="Google Shape;286;p 21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3" name="Google Shape;287;p 21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438;p77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Google Shape;440;p77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56" name="Google Shape;441;p77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Google Shape;442;p77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Google Shape;443;p77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Google Shape;444;p77"/>
          <p:cNvSpPr/>
          <p:nvPr/>
        </p:nvSpPr>
        <p:spPr>
          <a:xfrm>
            <a:off x="6660000" y="1905840"/>
            <a:ext cx="444924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Google Shape;445;p77"/>
          <p:cNvSpPr/>
          <p:nvPr/>
        </p:nvSpPr>
        <p:spPr>
          <a:xfrm>
            <a:off x="6660000" y="358668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Google Shape;446;p77"/>
          <p:cNvSpPr/>
          <p:nvPr/>
        </p:nvSpPr>
        <p:spPr>
          <a:xfrm>
            <a:off x="6660000" y="526752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62" name="Google Shape;447;p77"/>
          <p:cNvCxnSpPr/>
          <p:nvPr/>
        </p:nvCxnSpPr>
        <p:spPr>
          <a:xfrm>
            <a:off x="10190160" y="42591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3" name="Google Shape;448;p77"/>
          <p:cNvCxnSpPr/>
          <p:nvPr/>
        </p:nvCxnSpPr>
        <p:spPr>
          <a:xfrm>
            <a:off x="10190160" y="256968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4" name="Google Shape;449;p77"/>
          <p:cNvCxnSpPr/>
          <p:nvPr/>
        </p:nvCxnSpPr>
        <p:spPr>
          <a:xfrm flipV="1">
            <a:off x="7500600" y="425052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5" name="Google Shape;450;p77"/>
          <p:cNvCxnSpPr/>
          <p:nvPr/>
        </p:nvCxnSpPr>
        <p:spPr>
          <a:xfrm flipV="1">
            <a:off x="7500600" y="25779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366" name="Google Shape;451;p77"/>
          <p:cNvSpPr/>
          <p:nvPr/>
        </p:nvSpPr>
        <p:spPr>
          <a:xfrm>
            <a:off x="10358280" y="2746080"/>
            <a:ext cx="15073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Google Shape;452;p77"/>
          <p:cNvSpPr/>
          <p:nvPr/>
        </p:nvSpPr>
        <p:spPr>
          <a:xfrm>
            <a:off x="7560000" y="2664000"/>
            <a:ext cx="23479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Google Shape;453;p77"/>
          <p:cNvSpPr/>
          <p:nvPr/>
        </p:nvSpPr>
        <p:spPr>
          <a:xfrm>
            <a:off x="7584480" y="4477680"/>
            <a:ext cx="23479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Google Shape;457;p77"/>
          <p:cNvSpPr/>
          <p:nvPr/>
        </p:nvSpPr>
        <p:spPr>
          <a:xfrm>
            <a:off x="10358280" y="4317120"/>
            <a:ext cx="15073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Google Shape;463;p 1"/>
          <p:cNvSpPr/>
          <p:nvPr/>
        </p:nvSpPr>
        <p:spPr>
          <a:xfrm>
            <a:off x="180000" y="1800000"/>
            <a:ext cx="613980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71" name="Google Shape;285;p 22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72" name="Google Shape;286;p 22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3" name="Google Shape;287;p 22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462;p78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Google Shape;464;p78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76" name="Google Shape;465;p78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Google Shape;466;p78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Google Shape;467;p78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Google Shape;468;p78"/>
          <p:cNvSpPr/>
          <p:nvPr/>
        </p:nvSpPr>
        <p:spPr>
          <a:xfrm>
            <a:off x="6660000" y="1905840"/>
            <a:ext cx="4449240" cy="66672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0" name="Google Shape;469;p78"/>
          <p:cNvSpPr/>
          <p:nvPr/>
        </p:nvSpPr>
        <p:spPr>
          <a:xfrm>
            <a:off x="6660000" y="358668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Google Shape;470;p78"/>
          <p:cNvSpPr/>
          <p:nvPr/>
        </p:nvSpPr>
        <p:spPr>
          <a:xfrm>
            <a:off x="6660000" y="526752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2" name="Google Shape;471;p78"/>
          <p:cNvCxnSpPr/>
          <p:nvPr/>
        </p:nvCxnSpPr>
        <p:spPr>
          <a:xfrm>
            <a:off x="10190160" y="42591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3" name="Google Shape;472;p78"/>
          <p:cNvCxnSpPr/>
          <p:nvPr/>
        </p:nvCxnSpPr>
        <p:spPr>
          <a:xfrm>
            <a:off x="10190160" y="256968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4" name="Google Shape;473;p78"/>
          <p:cNvCxnSpPr/>
          <p:nvPr/>
        </p:nvCxnSpPr>
        <p:spPr>
          <a:xfrm flipV="1">
            <a:off x="7500600" y="425052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5" name="Google Shape;474;p78"/>
          <p:cNvCxnSpPr/>
          <p:nvPr/>
        </p:nvCxnSpPr>
        <p:spPr>
          <a:xfrm flipV="1">
            <a:off x="7500600" y="25779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386" name="Google Shape;475;p78"/>
          <p:cNvSpPr/>
          <p:nvPr/>
        </p:nvSpPr>
        <p:spPr>
          <a:xfrm>
            <a:off x="10358280" y="2746080"/>
            <a:ext cx="15073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Google Shape;476;p78"/>
          <p:cNvSpPr/>
          <p:nvPr/>
        </p:nvSpPr>
        <p:spPr>
          <a:xfrm>
            <a:off x="10358280" y="4317120"/>
            <a:ext cx="15073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Google Shape;477;p78"/>
          <p:cNvSpPr/>
          <p:nvPr/>
        </p:nvSpPr>
        <p:spPr>
          <a:xfrm>
            <a:off x="7560000" y="2664000"/>
            <a:ext cx="23479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Google Shape;478;p78"/>
          <p:cNvSpPr/>
          <p:nvPr/>
        </p:nvSpPr>
        <p:spPr>
          <a:xfrm>
            <a:off x="7584480" y="4477680"/>
            <a:ext cx="23479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Google Shape;463;p 2"/>
          <p:cNvSpPr/>
          <p:nvPr/>
        </p:nvSpPr>
        <p:spPr>
          <a:xfrm>
            <a:off x="180000" y="1800000"/>
            <a:ext cx="613980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91" name="Google Shape;285;p 23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392" name="Google Shape;286;p 23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3" name="Google Shape;287;p 23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486;p79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5" name="Google Shape;488;p79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6" name="Google Shape;489;p79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Google Shape;490;p79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Google Shape;491;p79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Google Shape;492;p79"/>
          <p:cNvSpPr/>
          <p:nvPr/>
        </p:nvSpPr>
        <p:spPr>
          <a:xfrm>
            <a:off x="6660000" y="1905840"/>
            <a:ext cx="444924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Google Shape;493;p79"/>
          <p:cNvSpPr/>
          <p:nvPr/>
        </p:nvSpPr>
        <p:spPr>
          <a:xfrm>
            <a:off x="6660000" y="3586680"/>
            <a:ext cx="4449240" cy="66708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1" name="Google Shape;494;p79"/>
          <p:cNvSpPr/>
          <p:nvPr/>
        </p:nvSpPr>
        <p:spPr>
          <a:xfrm>
            <a:off x="6660000" y="526752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2" name="Google Shape;495;p79"/>
          <p:cNvCxnSpPr/>
          <p:nvPr/>
        </p:nvCxnSpPr>
        <p:spPr>
          <a:xfrm>
            <a:off x="10190160" y="42591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3" name="Google Shape;496;p79"/>
          <p:cNvCxnSpPr/>
          <p:nvPr/>
        </p:nvCxnSpPr>
        <p:spPr>
          <a:xfrm>
            <a:off x="10190160" y="256968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4" name="Google Shape;497;p79"/>
          <p:cNvCxnSpPr/>
          <p:nvPr/>
        </p:nvCxnSpPr>
        <p:spPr>
          <a:xfrm flipV="1">
            <a:off x="7500600" y="425052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5" name="Google Shape;498;p79"/>
          <p:cNvCxnSpPr/>
          <p:nvPr/>
        </p:nvCxnSpPr>
        <p:spPr>
          <a:xfrm flipV="1">
            <a:off x="7500600" y="25779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06" name="Google Shape;499;p79"/>
          <p:cNvSpPr/>
          <p:nvPr/>
        </p:nvSpPr>
        <p:spPr>
          <a:xfrm>
            <a:off x="10358280" y="2746080"/>
            <a:ext cx="15073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Google Shape;500;p79"/>
          <p:cNvSpPr/>
          <p:nvPr/>
        </p:nvSpPr>
        <p:spPr>
          <a:xfrm>
            <a:off x="7560000" y="2664000"/>
            <a:ext cx="23479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Google Shape;501;p79"/>
          <p:cNvSpPr/>
          <p:nvPr/>
        </p:nvSpPr>
        <p:spPr>
          <a:xfrm>
            <a:off x="7584480" y="4477680"/>
            <a:ext cx="23479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Google Shape;505;p79"/>
          <p:cNvSpPr/>
          <p:nvPr/>
        </p:nvSpPr>
        <p:spPr>
          <a:xfrm>
            <a:off x="10358280" y="4317120"/>
            <a:ext cx="15073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Google Shape;463;p 3"/>
          <p:cNvSpPr/>
          <p:nvPr/>
        </p:nvSpPr>
        <p:spPr>
          <a:xfrm>
            <a:off x="180000" y="1800000"/>
            <a:ext cx="613980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1" name="Google Shape;285;p 24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412" name="Google Shape;286;p 24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3" name="Google Shape;287;p 24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510;p80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Google Shape;512;p80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16" name="Google Shape;513;p80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Google Shape;514;p80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Google Shape;515;p80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Google Shape;516;p80"/>
          <p:cNvSpPr/>
          <p:nvPr/>
        </p:nvSpPr>
        <p:spPr>
          <a:xfrm>
            <a:off x="6660000" y="1905840"/>
            <a:ext cx="444924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Google Shape;517;p80"/>
          <p:cNvSpPr/>
          <p:nvPr/>
        </p:nvSpPr>
        <p:spPr>
          <a:xfrm>
            <a:off x="6660000" y="3586680"/>
            <a:ext cx="4449240" cy="66708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Google Shape;518;p80"/>
          <p:cNvSpPr/>
          <p:nvPr/>
        </p:nvSpPr>
        <p:spPr>
          <a:xfrm>
            <a:off x="6660000" y="5267520"/>
            <a:ext cx="4449240" cy="66708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22" name="Google Shape;519;p80"/>
          <p:cNvCxnSpPr/>
          <p:nvPr/>
        </p:nvCxnSpPr>
        <p:spPr>
          <a:xfrm>
            <a:off x="10190160" y="42591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3" name="Google Shape;520;p80"/>
          <p:cNvCxnSpPr/>
          <p:nvPr/>
        </p:nvCxnSpPr>
        <p:spPr>
          <a:xfrm>
            <a:off x="10190160" y="256968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4" name="Google Shape;521;p80"/>
          <p:cNvCxnSpPr/>
          <p:nvPr/>
        </p:nvCxnSpPr>
        <p:spPr>
          <a:xfrm flipV="1">
            <a:off x="7500600" y="425052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5" name="Google Shape;522;p80"/>
          <p:cNvCxnSpPr/>
          <p:nvPr/>
        </p:nvCxnSpPr>
        <p:spPr>
          <a:xfrm flipV="1">
            <a:off x="7500600" y="2577960"/>
            <a:ext cx="5400" cy="101412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26" name="Google Shape;523;p80"/>
          <p:cNvSpPr/>
          <p:nvPr/>
        </p:nvSpPr>
        <p:spPr>
          <a:xfrm>
            <a:off x="10358280" y="2746080"/>
            <a:ext cx="15073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Google Shape;524;p80"/>
          <p:cNvSpPr/>
          <p:nvPr/>
        </p:nvSpPr>
        <p:spPr>
          <a:xfrm>
            <a:off x="7560000" y="2664000"/>
            <a:ext cx="23479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Google Shape;525;p80"/>
          <p:cNvSpPr/>
          <p:nvPr/>
        </p:nvSpPr>
        <p:spPr>
          <a:xfrm>
            <a:off x="7584480" y="4477680"/>
            <a:ext cx="234792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Google Shape;529;p80"/>
          <p:cNvSpPr/>
          <p:nvPr/>
        </p:nvSpPr>
        <p:spPr>
          <a:xfrm>
            <a:off x="10358280" y="4317120"/>
            <a:ext cx="150732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Google Shape;463;p 4"/>
          <p:cNvSpPr/>
          <p:nvPr/>
        </p:nvSpPr>
        <p:spPr>
          <a:xfrm>
            <a:off x="180000" y="1800000"/>
            <a:ext cx="613980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31" name="Google Shape;285;p 25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432" name="Google Shape;286;p 25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3" name="Google Shape;287;p 25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534;p81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Google Shape;535;p81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Google Shape;536;p8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37" name="Google Shape;537;p8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Google Shape;538;p8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Google Shape;539;p8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Google Shape;540;p81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Google Shape;541;p81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Google Shape;542;p81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Google Shape;543;p81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Google Shape;544;p81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45" name="Google Shape;545;p81"/>
          <p:cNvCxnSpPr>
            <a:stCxn id="444" idx="6"/>
            <a:endCxn id="440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46" name="Google Shape;546;p81"/>
          <p:cNvCxnSpPr>
            <a:stCxn id="440" idx="6"/>
            <a:endCxn id="441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47" name="Google Shape;547;p81"/>
          <p:cNvCxnSpPr>
            <a:stCxn id="441" idx="6"/>
            <a:endCxn id="442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48" name="Google Shape;548;p81"/>
          <p:cNvCxnSpPr>
            <a:stCxn id="442" idx="4"/>
            <a:endCxn id="443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49" name="Google Shape;549;p81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Google Shape;550;p81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51" name="Google Shape;551;p81"/>
          <p:cNvCxnSpPr>
            <a:stCxn id="443" idx="3"/>
            <a:endCxn id="450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2" name="Google Shape;552;p81"/>
          <p:cNvCxnSpPr>
            <a:stCxn id="450" idx="7"/>
            <a:endCxn id="443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3" name="Google Shape;553;p81"/>
          <p:cNvCxnSpPr>
            <a:stCxn id="442" idx="2"/>
            <a:endCxn id="449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4" name="Google Shape;554;p81"/>
          <p:cNvCxnSpPr>
            <a:stCxn id="449" idx="2"/>
            <a:endCxn id="440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455" name="Google Shape;285;p 26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456" name="Google Shape;286;p 26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57" name="Google Shape;287;p 26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562;p82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Google Shape;563;p82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DISABLE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Google Shape;564;p82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61" name="Google Shape;565;p82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Google Shape;566;p82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Google Shape;567;p82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Google Shape;568;p82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Google Shape;569;p82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Google Shape;570;p82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Google Shape;571;p82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Google Shape;572;p82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69" name="Google Shape;573;p82"/>
          <p:cNvCxnSpPr>
            <a:stCxn id="468" idx="6"/>
            <a:endCxn id="464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0" name="Google Shape;574;p82"/>
          <p:cNvCxnSpPr>
            <a:stCxn id="464" idx="6"/>
            <a:endCxn id="465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1" name="Google Shape;575;p82"/>
          <p:cNvCxnSpPr>
            <a:stCxn id="465" idx="6"/>
            <a:endCxn id="466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2" name="Google Shape;576;p82"/>
          <p:cNvCxnSpPr>
            <a:stCxn id="466" idx="4"/>
            <a:endCxn id="467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73" name="Google Shape;577;p82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4" name="Google Shape;578;p82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75" name="Google Shape;579;p82"/>
          <p:cNvCxnSpPr>
            <a:stCxn id="467" idx="3"/>
            <a:endCxn id="474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6" name="Google Shape;580;p82"/>
          <p:cNvCxnSpPr>
            <a:stCxn id="474" idx="7"/>
            <a:endCxn id="467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7" name="Google Shape;581;p82"/>
          <p:cNvCxnSpPr>
            <a:stCxn id="466" idx="2"/>
            <a:endCxn id="473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8" name="Google Shape;582;p82"/>
          <p:cNvCxnSpPr>
            <a:stCxn id="473" idx="2"/>
            <a:endCxn id="464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479" name="Google Shape;285;p 27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480" name="Google Shape;286;p 27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1" name="Google Shape;287;p 27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590;p83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Google Shape;591;p83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INIT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Google Shape;592;p83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85" name="Google Shape;593;p83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Google Shape;594;p83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Google Shape;595;p83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Google Shape;596;p83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Google Shape;597;p83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Google Shape;598;p83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Google Shape;599;p83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Google Shape;600;p83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93" name="Google Shape;601;p83"/>
          <p:cNvCxnSpPr>
            <a:stCxn id="492" idx="6"/>
            <a:endCxn id="488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4" name="Google Shape;602;p83"/>
          <p:cNvCxnSpPr>
            <a:stCxn id="488" idx="6"/>
            <a:endCxn id="489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5" name="Google Shape;603;p83"/>
          <p:cNvCxnSpPr>
            <a:stCxn id="489" idx="6"/>
            <a:endCxn id="490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6" name="Google Shape;604;p83"/>
          <p:cNvCxnSpPr>
            <a:stCxn id="490" idx="4"/>
            <a:endCxn id="491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97" name="Google Shape;605;p83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Google Shape;606;p83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99" name="Google Shape;607;p83"/>
          <p:cNvCxnSpPr>
            <a:stCxn id="491" idx="3"/>
            <a:endCxn id="498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0" name="Google Shape;608;p83"/>
          <p:cNvCxnSpPr>
            <a:stCxn id="498" idx="7"/>
            <a:endCxn id="491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1" name="Google Shape;609;p83"/>
          <p:cNvCxnSpPr>
            <a:stCxn id="490" idx="2"/>
            <a:endCxn id="497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2" name="Google Shape;610;p83"/>
          <p:cNvCxnSpPr>
            <a:stCxn id="497" idx="2"/>
            <a:endCxn id="488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03" name="Google Shape;285;p 28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504" name="Google Shape;286;p 28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05" name="Google Shape;287;p 28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618;p84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Google Shape;619;p84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TEST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Google Shape;620;p84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09" name="Google Shape;621;p84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Google Shape;622;p84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Google Shape;623;p84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Google Shape;624;p84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Google Shape;625;p84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Google Shape;626;p84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Google Shape;627;p84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Google Shape;628;p84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17" name="Google Shape;629;p84"/>
          <p:cNvCxnSpPr>
            <a:stCxn id="516" idx="6"/>
            <a:endCxn id="512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18" name="Google Shape;630;p84"/>
          <p:cNvCxnSpPr>
            <a:stCxn id="512" idx="6"/>
            <a:endCxn id="513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19" name="Google Shape;631;p84"/>
          <p:cNvCxnSpPr>
            <a:stCxn id="513" idx="6"/>
            <a:endCxn id="514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0" name="Google Shape;632;p84"/>
          <p:cNvCxnSpPr>
            <a:stCxn id="514" idx="4"/>
            <a:endCxn id="515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21" name="Google Shape;633;p84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Google Shape;634;p84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23" name="Google Shape;635;p84"/>
          <p:cNvCxnSpPr>
            <a:stCxn id="515" idx="3"/>
            <a:endCxn id="522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4" name="Google Shape;636;p84"/>
          <p:cNvCxnSpPr>
            <a:stCxn id="522" idx="7"/>
            <a:endCxn id="515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5" name="Google Shape;637;p84"/>
          <p:cNvCxnSpPr>
            <a:stCxn id="514" idx="2"/>
            <a:endCxn id="521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6" name="Google Shape;638;p84"/>
          <p:cNvCxnSpPr>
            <a:stCxn id="521" idx="2"/>
            <a:endCxn id="512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27" name="Google Shape;285;p 29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528" name="Google Shape;286;p 29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9" name="Google Shape;287;p 29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646;p85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1" name="Google Shape;647;p85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ERROR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Google Shape;648;p85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33" name="Google Shape;649;p85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Google Shape;650;p85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Google Shape;651;p85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Google Shape;652;p85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Google Shape;653;p85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Google Shape;654;p85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Google Shape;655;p85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Google Shape;656;p85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41" name="Google Shape;657;p85"/>
          <p:cNvCxnSpPr>
            <a:stCxn id="540" idx="6"/>
            <a:endCxn id="536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2" name="Google Shape;658;p85"/>
          <p:cNvCxnSpPr>
            <a:stCxn id="536" idx="6"/>
            <a:endCxn id="537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3" name="Google Shape;659;p85"/>
          <p:cNvCxnSpPr>
            <a:stCxn id="537" idx="6"/>
            <a:endCxn id="538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4" name="Google Shape;660;p85"/>
          <p:cNvCxnSpPr>
            <a:stCxn id="538" idx="4"/>
            <a:endCxn id="539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45" name="Google Shape;661;p85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Google Shape;662;p85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47" name="Google Shape;663;p85"/>
          <p:cNvCxnSpPr>
            <a:stCxn id="539" idx="3"/>
            <a:endCxn id="546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8" name="Google Shape;664;p85"/>
          <p:cNvCxnSpPr>
            <a:stCxn id="546" idx="7"/>
            <a:endCxn id="539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9" name="Google Shape;665;p85"/>
          <p:cNvCxnSpPr>
            <a:stCxn id="538" idx="2"/>
            <a:endCxn id="545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50" name="Google Shape;666;p85"/>
          <p:cNvCxnSpPr>
            <a:stCxn id="545" idx="2"/>
            <a:endCxn id="536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51" name="Google Shape;285;p 30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552" name="Google Shape;286;p 30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3" name="Google Shape;287;p 30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674;p86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Google Shape;675;p86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IDLE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Google Shape;676;p86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57" name="Google Shape;677;p86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Google Shape;678;p86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Google Shape;679;p86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0" name="Google Shape;680;p86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Google Shape;681;p86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Google Shape;682;p86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Google Shape;683;p86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Google Shape;684;p86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65" name="Google Shape;685;p86"/>
          <p:cNvCxnSpPr>
            <a:stCxn id="564" idx="6"/>
            <a:endCxn id="560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66" name="Google Shape;686;p86"/>
          <p:cNvCxnSpPr>
            <a:stCxn id="560" idx="6"/>
            <a:endCxn id="561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67" name="Google Shape;687;p86"/>
          <p:cNvCxnSpPr>
            <a:stCxn id="561" idx="6"/>
            <a:endCxn id="562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68" name="Google Shape;688;p86"/>
          <p:cNvCxnSpPr>
            <a:stCxn id="562" idx="4"/>
            <a:endCxn id="563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69" name="Google Shape;689;p86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0" name="Google Shape;690;p86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71" name="Google Shape;691;p86"/>
          <p:cNvCxnSpPr>
            <a:stCxn id="563" idx="3"/>
            <a:endCxn id="570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2" name="Google Shape;692;p86"/>
          <p:cNvCxnSpPr>
            <a:stCxn id="570" idx="7"/>
            <a:endCxn id="563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3" name="Google Shape;693;p86"/>
          <p:cNvCxnSpPr>
            <a:stCxn id="562" idx="2"/>
            <a:endCxn id="569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4" name="Google Shape;694;p86"/>
          <p:cNvCxnSpPr>
            <a:stCxn id="569" idx="2"/>
            <a:endCxn id="560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75" name="Google Shape;285;p 31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576" name="Google Shape;286;p 31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77" name="Google Shape;287;p 31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702;p87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9" name="Google Shape;703;p87"/>
          <p:cNvSpPr/>
          <p:nvPr/>
        </p:nvSpPr>
        <p:spPr>
          <a:xfrm>
            <a:off x="190800" y="1816560"/>
            <a:ext cx="7759800" cy="48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RUN JOB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0" name="Google Shape;704;p87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81" name="Google Shape;705;p87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Google Shape;706;p87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Google Shape;707;p87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4" name="Google Shape;708;p87"/>
          <p:cNvSpPr/>
          <p:nvPr/>
        </p:nvSpPr>
        <p:spPr>
          <a:xfrm>
            <a:off x="8353440" y="227628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Google Shape;709;p87"/>
          <p:cNvSpPr/>
          <p:nvPr/>
        </p:nvSpPr>
        <p:spPr>
          <a:xfrm>
            <a:off x="9633240" y="227664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Google Shape;710;p87"/>
          <p:cNvSpPr/>
          <p:nvPr/>
        </p:nvSpPr>
        <p:spPr>
          <a:xfrm>
            <a:off x="10808280" y="292932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Google Shape;711;p87"/>
          <p:cNvSpPr/>
          <p:nvPr/>
        </p:nvSpPr>
        <p:spPr>
          <a:xfrm>
            <a:off x="10808280" y="430056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Google Shape;712;p87"/>
          <p:cNvSpPr/>
          <p:nvPr/>
        </p:nvSpPr>
        <p:spPr>
          <a:xfrm>
            <a:off x="8363160" y="1800000"/>
            <a:ext cx="255960" cy="25560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89" name="Google Shape;713;p87"/>
          <p:cNvCxnSpPr>
            <a:stCxn id="588" idx="6"/>
            <a:endCxn id="584" idx="0"/>
          </p:cNvCxnSpPr>
          <p:nvPr/>
        </p:nvCxnSpPr>
        <p:spPr>
          <a:xfrm>
            <a:off x="861912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0" name="Google Shape;714;p87"/>
          <p:cNvCxnSpPr>
            <a:stCxn id="584" idx="6"/>
            <a:endCxn id="585" idx="2"/>
          </p:cNvCxnSpPr>
          <p:nvPr/>
        </p:nvCxnSpPr>
        <p:spPr>
          <a:xfrm>
            <a:off x="9392760" y="2796120"/>
            <a:ext cx="240840" cy="720"/>
          </a:xfrm>
          <a:prstGeom prst="curvedConnector3">
            <a:avLst>
              <a:gd name="adj1" fmla="val 5314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1" name="Google Shape;715;p87"/>
          <p:cNvCxnSpPr>
            <a:stCxn id="585" idx="6"/>
            <a:endCxn id="586" idx="0"/>
          </p:cNvCxnSpPr>
          <p:nvPr/>
        </p:nvCxnSpPr>
        <p:spPr>
          <a:xfrm>
            <a:off x="10672560" y="2796480"/>
            <a:ext cx="655920" cy="133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2" name="Google Shape;716;p87"/>
          <p:cNvCxnSpPr>
            <a:stCxn id="586" idx="4"/>
            <a:endCxn id="587" idx="0"/>
          </p:cNvCxnSpPr>
          <p:nvPr/>
        </p:nvCxnSpPr>
        <p:spPr>
          <a:xfrm rot="16200000">
            <a:off x="11162160" y="4134600"/>
            <a:ext cx="33228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93" name="Google Shape;717;p87"/>
          <p:cNvSpPr/>
          <p:nvPr/>
        </p:nvSpPr>
        <p:spPr>
          <a:xfrm>
            <a:off x="9268560" y="3567600"/>
            <a:ext cx="1039320" cy="103932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4" name="Google Shape;718;p87"/>
          <p:cNvSpPr/>
          <p:nvPr/>
        </p:nvSpPr>
        <p:spPr>
          <a:xfrm>
            <a:off x="9541800" y="4940280"/>
            <a:ext cx="1039320" cy="103932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95" name="Google Shape;719;p87"/>
          <p:cNvCxnSpPr>
            <a:stCxn id="587" idx="3"/>
            <a:endCxn id="594" idx="6"/>
          </p:cNvCxnSpPr>
          <p:nvPr/>
        </p:nvCxnSpPr>
        <p:spPr>
          <a:xfrm rot="5400000">
            <a:off x="10634400" y="5134680"/>
            <a:ext cx="27252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6" name="Google Shape;720;p87"/>
          <p:cNvCxnSpPr>
            <a:stCxn id="594" idx="7"/>
            <a:endCxn id="587" idx="2"/>
          </p:cNvCxnSpPr>
          <p:nvPr/>
        </p:nvCxnSpPr>
        <p:spPr>
          <a:xfrm flipH="1" flipV="1" rot="5400000">
            <a:off x="10482480" y="4766760"/>
            <a:ext cx="272160" cy="3794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7" name="Google Shape;721;p87"/>
          <p:cNvCxnSpPr>
            <a:stCxn id="586" idx="2"/>
            <a:endCxn id="593" idx="6"/>
          </p:cNvCxnSpPr>
          <p:nvPr/>
        </p:nvCxnSpPr>
        <p:spPr>
          <a:xfrm flipV="1" rot="10800000">
            <a:off x="10307880" y="3448800"/>
            <a:ext cx="500760" cy="638640"/>
          </a:xfrm>
          <a:prstGeom prst="curvedConnector3">
            <a:avLst>
              <a:gd name="adj1" fmla="val 48920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8" name="Google Shape;722;p87"/>
          <p:cNvCxnSpPr>
            <a:stCxn id="593" idx="2"/>
            <a:endCxn id="584" idx="4"/>
          </p:cNvCxnSpPr>
          <p:nvPr/>
        </p:nvCxnSpPr>
        <p:spPr>
          <a:xfrm rot="10800000">
            <a:off x="8873280" y="3315600"/>
            <a:ext cx="39564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99" name="Google Shape;285;p 32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600" name="Google Shape;286;p 32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1" name="Google Shape;287;p 32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842;p96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Conclusions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3" name="Google Shape;843;p96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04" name="Google Shape;844;p96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5" name="Google Shape;845;p96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Google Shape;846;p96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7" name="Google Shape;847;p96"/>
          <p:cNvSpPr/>
          <p:nvPr/>
        </p:nvSpPr>
        <p:spPr>
          <a:xfrm>
            <a:off x="659520" y="1701000"/>
            <a:ext cx="10943640" cy="37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new deployment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for underwater noise measurement was developed for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 waters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on the Argentinian continental shelf: application to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impulsive sound monitoring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 relevance for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basin-scale propagation analysis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using impulsive signals detected by the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IMS hydroacoustic network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low-cost prototype buoy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for coastal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monitoring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is in its final integration stage, designed for robustness with a static mooring system.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Proposed deployment sites (MDQ and CRD) were selected to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enhance detection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in previously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uncovered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platform paves the way for a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scalable coastal monitoring system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supporting baseline studies of shallow water 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soundscapes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and long-range propagation analysis.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08" name="Google Shape;285;p 33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609" name="Google Shape;286;p 33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0" name="Google Shape;287;p 33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843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12" name="Google Shape;844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3" name="Google Shape;845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4" name="Google Shape;846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5" name="Google Shape;411;p 1"/>
          <p:cNvSpPr/>
          <p:nvPr/>
        </p:nvSpPr>
        <p:spPr>
          <a:xfrm>
            <a:off x="159840" y="12110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Thank you!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Google Shape;398;p 3"/>
          <p:cNvSpPr/>
          <p:nvPr/>
        </p:nvSpPr>
        <p:spPr>
          <a:xfrm>
            <a:off x="454680" y="1716840"/>
            <a:ext cx="1126260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Bonus: FFT PE – 3D TL modeling f=10 Hz?  </a:t>
            </a:r>
            <a:endParaRPr b="0" lang="es-E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Incluir FIGURA DE RUI CON basin-scale a Argentinian continental shelf y efectos 3D en talud e I. Malvinas y mandar el chivo de “invitar al publico a visitar el Poster P.1..XX en que se presentan mas resultados de esa modelación”. Algo así…</a:t>
            </a:r>
            <a:endParaRPr b="0" lang="es-E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5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Todo escrito en chiquito abajo de la figura, y si da el tiempo lo decís. </a:t>
            </a:r>
            <a:endParaRPr b="0" lang="es-E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17" name="Google Shape;285;p 34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618" name="Google Shape;286;p 34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9" name="Google Shape;287;p 34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427;p76"/>
          <p:cNvSpPr/>
          <p:nvPr/>
        </p:nvSpPr>
        <p:spPr>
          <a:xfrm>
            <a:off x="159840" y="1189440"/>
            <a:ext cx="118663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SCHEMATIC OF THE BUOY MOORING SYSTEM WITH HYDROPHONES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1" name="Google Shape;428;p 1"/>
          <p:cNvSpPr/>
          <p:nvPr/>
        </p:nvSpPr>
        <p:spPr>
          <a:xfrm>
            <a:off x="8776080" y="-1116360"/>
            <a:ext cx="6951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22" name="Google Shape;429;p 1"/>
          <p:cNvSpPr/>
          <p:nvPr/>
        </p:nvSpPr>
        <p:spPr>
          <a:xfrm>
            <a:off x="3759120" y="72000"/>
            <a:ext cx="762696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3" name="Google Shape;430;p 1"/>
          <p:cNvSpPr/>
          <p:nvPr/>
        </p:nvSpPr>
        <p:spPr>
          <a:xfrm>
            <a:off x="3771000" y="662400"/>
            <a:ext cx="7615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Google Shape;431;p 1"/>
          <p:cNvSpPr/>
          <p:nvPr/>
        </p:nvSpPr>
        <p:spPr>
          <a:xfrm>
            <a:off x="11490840" y="-166320"/>
            <a:ext cx="695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5" name="Google Shape;432;p 1" descr=""/>
          <p:cNvPicPr/>
          <p:nvPr/>
        </p:nvPicPr>
        <p:blipFill>
          <a:blip r:embed="rId1"/>
          <a:stretch/>
        </p:blipFill>
        <p:spPr>
          <a:xfrm>
            <a:off x="5400" y="2160000"/>
            <a:ext cx="8586000" cy="467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Google Shape;433;p 1" descr=""/>
          <p:cNvPicPr/>
          <p:nvPr/>
        </p:nvPicPr>
        <p:blipFill>
          <a:blip r:embed="rId2"/>
          <a:stretch/>
        </p:blipFill>
        <p:spPr>
          <a:xfrm>
            <a:off x="8208000" y="2196000"/>
            <a:ext cx="4077720" cy="4207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7" name="Google Shape;285;p 35"/>
          <p:cNvGrpSpPr/>
          <p:nvPr/>
        </p:nvGrpSpPr>
        <p:grpSpPr>
          <a:xfrm>
            <a:off x="10234440" y="93960"/>
            <a:ext cx="1800000" cy="432000"/>
            <a:chOff x="10234440" y="93960"/>
            <a:chExt cx="1800000" cy="432000"/>
          </a:xfrm>
        </p:grpSpPr>
        <p:pic>
          <p:nvPicPr>
            <p:cNvPr id="628" name="Google Shape;286;p 35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960" cy="429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9" name="Google Shape;287;p 35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480" cy="432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6004</TotalTime>
  <Application>LibreOffice/24.8.7.2$Linux_X86_64 LibreOffice_project/480$Build-2</Application>
  <AppVersion>15.0000</AppVersion>
  <Words>4576</Words>
  <Paragraphs>515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Acustica</dc:creator>
  <dc:description/>
  <dc:language>es-ES</dc:language>
  <cp:lastModifiedBy/>
  <cp:lastPrinted>2025-08-20T12:46:43Z</cp:lastPrinted>
  <dcterms:modified xsi:type="dcterms:W3CDTF">2025-08-28T17:06:50Z</dcterms:modified>
  <cp:revision>130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32</vt:r8>
  </property>
  <property fmtid="{D5CDD505-2E9C-101B-9397-08002B2CF9AE}" pid="3" name="PresentationFormat">
    <vt:lpwstr>Personalizado</vt:lpwstr>
  </property>
  <property fmtid="{D5CDD505-2E9C-101B-9397-08002B2CF9AE}" pid="4" name="Slides">
    <vt:i4>37</vt:i4>
  </property>
</Properties>
</file>